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2286000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MARKET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사진 한 장으로 끝내는</a:t>
            </a:r>
          </a:p>
          <a:p>
            <a:pPr>
              <a:defRPr sz="4400" b="1">
                <a:solidFill>
                  <a:srgbClr val="10B981"/>
                </a:solidFill>
              </a:defRPr>
            </a:pPr>
            <a:r>
              <a:t>15초 칼로리 트래커 마켓 리서치</a:t>
            </a:r>
          </a:p>
          <a:p>
            <a:br/>
            <a:pPr>
              <a:defRPr sz="1500">
                <a:solidFill>
                  <a:srgbClr val="94A3B8"/>
                </a:solidFill>
              </a:defRPr>
            </a:pPr>
            <a:r>
              <a:t>기존 수기 검색 및 그램(g) 환산의 기록 피로(이탈률 82%)를 혁신하고,</a:t>
            </a:r>
            <a:br/>
            <a:r>
              <a:t>MyFitnessPal(Cal AI 인수) 및 Welling 대비 독점적 차별화 전략을 제시하는 시장 분석 보고서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32004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RESEARCH DATA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10건 정밀 실증 자료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4754880"/>
            <a:ext cx="32004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TARGET PERSONA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22~35세 직장인 (감량/증량)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754880"/>
            <a:ext cx="32004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TECH STACK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Next.js + Tailwind PWA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CaloMate 마켓 리서치 | 02.기획문서/마켓리서치.md                                                               Page 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3대 핵심 리서치 질문과 시장 발견점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기존 트래커 시장의 구조적 한계와 CaloMate가 포착한 기회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</a:defRPr>
            </a:pPr>
            <a:r>
              <a:t>🥗 CaloMate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📈 Q1. 시장 규모 &amp; 성장성</a:t>
            </a:r>
          </a:p>
          <a:p>
            <a:br/>
            <a:pPr>
              <a:defRPr sz="2200" b="1">
                <a:solidFill>
                  <a:srgbClr val="10B981"/>
                </a:solidFill>
              </a:defRPr>
            </a:pPr>
            <a:r>
              <a:t>$2.8B → $4.56B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글로벌 시장 연 13.4% 성장 중이며, 생성형 AI 칼로리 어시스턴트 부문은 25.1%로 초고속 팽창.</a:t>
            </a:r>
            <a:br/>
            <a:br/>
            <a:r>
              <a:t>💡 AI 도입 앱 리텐션이 기존 대비 2.3배 높음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⚔️ Q2. 경쟁 구도 재편</a:t>
            </a:r>
          </a:p>
          <a:p>
            <a:br/>
            <a:pPr>
              <a:defRPr sz="2200" b="1">
                <a:solidFill>
                  <a:srgbClr val="F59E0B"/>
                </a:solidFill>
              </a:defRPr>
            </a:pPr>
            <a:r>
              <a:t>MyFitnessPal x Cal AI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2026.03 대형 플랫폼의 사진 인식(Meal Scan) 탑재 및 Welling의 증량(벌킹) 모드 부상.</a:t>
            </a:r>
            <a:br/>
            <a:br/>
            <a:r>
              <a:t>💡 한식 최적화, 사람 언어 배식량, 15초 로깅 필수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828800"/>
            <a:ext cx="34747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😫 Q3. 사용자 고통 &amp; 이탈</a:t>
            </a:r>
          </a:p>
          <a:p>
            <a:br/>
            <a:pPr>
              <a:defRPr sz="2200" b="1">
                <a:solidFill>
                  <a:srgbClr val="EF4444"/>
                </a:solidFill>
              </a:defRPr>
            </a:pPr>
            <a:r>
              <a:t>82% (3주 내 이탈)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포기 원인 1위는 '재료별 수기 검색'과 '저울 없는 그램(g) 환산 강제'로 인한 피로감.</a:t>
            </a:r>
            <a:br/>
            <a:br/>
            <a:r>
              <a:t>💡 15초 완결 플로우와 '1그릇/1접시' 슬라이더로 해결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CaloMate 마켓 리서치 | 02.기획문서/마켓리서치.md                                                               Page 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글로벌 및 국내 식단 관리 시장 규모 &amp; 4대 드라이버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기술 전환기 속에서 폭발적으로 증가하는 AI 헬스케어 수요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</a:defRPr>
            </a:pPr>
            <a:r>
              <a:t>🥗 CaloMate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GLOBAL DIET &amp; NUTRITION APPS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$2.8B (2026) → $4.56B (2030)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CAGR 13.4% 고성장 | 전 세계 1.8억~2억 명 활성 이용자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12064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AI NUTRITION ASSISTANT SECTOR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$222.3M → $850M+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CAGR 25.1% | 생성형 AI 비전 기반 실시간 어시스턴트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512064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KOREA 2030 TARGET MARKET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약 3,200억 원 규모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헬시플레저, 저속노화 식단, 벌킹/웨이트 트레이닝 열풍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530352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📊 4대 시장 성장 드라이버 (Growth Drivers)</a:t>
            </a:r>
            <a:br/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1. AI 비전 기술 융합: 기록 마찰 75% 감소, 카메라 촬영 즉시 칼로리/매크로 추정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2. 2030 헬시플레저 확산: 직장인 67.4% 식단 관리 시도, 데이터 기반 건강 관리 선호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3. 벌킹 및 증량 수요 폭발: 2030 남성 42%가 골격근 증량 니즈 보유, 웨이트 열풍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4. 리텐션 격차 발생: AI 비전 자동화 앱의 30일 리텐션이 기존 앱 대비 2.3배 높음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CaloMate 마켓 리서치 | 02.기획문서/마켓리서치.md                                                               Page 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USER FRICTION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기존 앱의 실패 원인: 왜 82%가 3주 안에 포기하는가?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직장인 일상에서 저울과 수기 입력이 유발하는 마찰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</a:defRPr>
            </a:pPr>
            <a:r>
              <a:t>🥗 CaloMate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6060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STEP 01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식사 시작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구내식당, 외식, 배달음식 섭취</a:t>
            </a:r>
            <a:br/>
            <a:br/>
            <a:r>
              <a:t>📸 CaloMate: 1초 촬영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6060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STEP 02 (이탈 1)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재료별 수기 검색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반찬 3개 이상 시 72%가 기록 포기</a:t>
            </a:r>
            <a:br/>
            <a:br/>
            <a:r>
              <a:t>⚡ LLM 다중 객체 자동인식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6060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STEP 03 (이탈 2)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그램(g) 환산 장벽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저울 부재로 무게 몰라 48% 중단</a:t>
            </a:r>
            <a:br/>
            <a:br/>
            <a:r>
              <a:t>🥣 '1그릇/1접시' 사람 언어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28800"/>
            <a:ext cx="26060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STEP 04 (결과)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3주 내 앱 삭제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평균 지속 18.4일 만에 82% 최종 이탈</a:t>
            </a:r>
            <a:br/>
            <a:br/>
            <a:r>
              <a:t>⏱️ 15초 완결로 습관화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728655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기존 앱 평균 110초~150초 (검색 5회 + 무게 추측)  ➔  CaloMate 목표: 15초 이내 (사진 1회 + 슬라이더 1회)</a:t>
            </a:r>
          </a:p>
          <a:p>
            <a:br/>
            <a:pPr algn="ctr">
              <a:defRPr sz="1300">
                <a:solidFill>
                  <a:srgbClr val="F8FAFC"/>
                </a:solidFill>
              </a:defRPr>
            </a:pPr>
            <a:r>
              <a:t>한 끼 기록 시간을 87% 단축함으로써 기록 피로로 인한 이탈을 원천 차단하고 지속 가능한 체중 관리 습관 형성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CaloMate 마켓 리서치 | 02.기획문서/마켓리서치.md                                                               Page 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COMPETITIVE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주요 경쟁사 핵심 스펙 및 성능 상세 비교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기존 전통 앱 및 2026 AI 신흥 경쟁사 대비 CaloMate의 우위 지점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</a:defRPr>
            </a:pPr>
            <a:r>
              <a:t>🥗 CaloMate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72865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670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서비스명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음식 입력 방식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배식량 단위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증량(벌킹) 지원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기록 소요 시간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가격대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4A3B8"/>
                          </a:solidFill>
                        </a:defRPr>
                      </a:pPr>
                      <a:r>
                        <a:t>MyFitnessPal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Meal Scan (Cal AI) / 검색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그램(g) 환산 종속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부가 기능 (감량 중심)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30~60초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월 $19.99 (고가)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4A3B8"/>
                          </a:solidFill>
                        </a:defRPr>
                      </a:pPr>
                      <a:r>
                        <a:t>Welling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자연어 채팅 + 사진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그램 / 자연어 묘사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1급 벌킹 모드 지원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20~30초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구독제 (영미권)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4A3B8"/>
                          </a:solidFill>
                        </a:defRPr>
                      </a:pPr>
                      <a:r>
                        <a:t>Yazio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바코드 스캔, 수기 검색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그램(g) 단위 강제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단백질 트래킹 보조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90~150초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무료 + 프로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4A3B8"/>
                          </a:solidFill>
                        </a:defRPr>
                      </a:pPr>
                      <a:r>
                        <a:t>Lifesum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바코드 스캔, 수기 검색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그램(g) / 컵 단위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부가 기능 수준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90~140초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부분 유료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🥗 CaloMate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카메라 → LLM 자동 인식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1그릇/1접시 사람 언어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증량 1급 전용 플로우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15초 이내 목표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PWA (합리적/무료)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CaloMate 마켓 리서치 | 02.기획문서/마켓리서치.md                                                               Page 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CORE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CaloMate의 4대 핵심 차별화 전략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경쟁사가 모방하기 어려운 극강의 마찰 제거와 사용자 친화적 경험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</a:defRPr>
            </a:pPr>
            <a:r>
              <a:t>🥗 CaloMate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60604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🥘 01. 한식 복합식단 특화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국/찌개/반찬 3~4가지가 한 상에 담긴 한국식 상차림을 멀티모달 비전으로 분할 검출하고 식약처 공공 DB와 매핑하여 80% 이상 정확도 확보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60604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🥣 02. 그램 미노출 사람 언어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화면에서 복잡한 그램(g) 숫자를 숨기고 '1그릇, 1접시, 1인분, 반 공기' 직관 슬라이더로 저울 강박 없는 식사 기록 실현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60604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⚡ 03. 15초 이내 기록 완결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카메라 촬영 즉시 LLM 추정치 제시 → 1회 터치 보정 → 저장으로 이어지는 3단계 초압축 플로우로 기존 대비 87% 시간 절감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28800"/>
            <a:ext cx="260604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💪 04. 증량 1급 플로우 전용설계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체중 증량(벌킹)을 부가 기능이 아닌 1급 모드로 취급. 잉여 칼로리를 긍정적으로 축하하고 근성장 맞춤 근력 운동을 추천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CaloMate 마켓 리서치 | 02.기획문서/마켓리서치.md                                                               Page 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TARGET PERSONAS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핵심 타깃 페르소나 및 세그먼트별 솔루션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기록 피로로 중도 포기한 22~35세 직장인을 위한 맞춤형 가치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</a:defRPr>
            </a:pPr>
            <a:r>
              <a:t>🥗 CaloMate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👩‍💼 이지은 (28세) - 감량 목표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IT 마케터 | 잦은 외식과 배달음식</a:t>
            </a:r>
          </a:p>
          <a:p>
            <a:br/>
            <a:pPr>
              <a:defRPr sz="1100">
                <a:solidFill>
                  <a:srgbClr val="EF4444"/>
                </a:solidFill>
              </a:defRPr>
            </a:pPr>
            <a:r>
              <a:t>[페인포인트]</a:t>
            </a:r>
            <a:br/>
            <a:r>
              <a:t>"점심에 동료들과 김치찌개 먹었는데, 무게 몰라 검색만 5분 하다가 앱 지웠어요."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[CaloMate 해결책]</a:t>
            </a:r>
            <a:br/>
            <a:r>
              <a:t>• 뚝배기 사진 인식 + '1인분' 자동 설정으로 눈치 보지 않고 15초 로깅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7472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👨‍💻 박민우 (31세) - 증량(벌킹) 목표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핀테크 개발자 | 골격근량 증가 희망</a:t>
            </a:r>
          </a:p>
          <a:p>
            <a:br/>
            <a:pPr>
              <a:defRPr sz="1100">
                <a:solidFill>
                  <a:srgbClr val="10B981"/>
                </a:solidFill>
              </a:defRPr>
            </a:pPr>
            <a:r>
              <a:t>[페인포인트]</a:t>
            </a:r>
            <a:br/>
            <a:r>
              <a:t>"마른 체형 탈출하려고 많이 먹는데, 기존 앱은 칼로리 넘기면 빨간색 경고만 떠요."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[CaloMate 해결책]</a:t>
            </a:r>
            <a:br/>
            <a:r>
              <a:t>• 증량 전용 모드로 잉여 칼로리 축하 + 근력 운동 맞춤 연계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828800"/>
            <a:ext cx="347472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🧘‍♂️ 최현석 (34세) - 건강 유지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대기업 영업직 | 회식과 식사 불규칙</a:t>
            </a:r>
          </a:p>
          <a:p>
            <a:br/>
            <a:pPr>
              <a:defRPr sz="1100">
                <a:solidFill>
                  <a:srgbClr val="6366F1"/>
                </a:solidFill>
              </a:defRPr>
            </a:pPr>
            <a:r>
              <a:t>[페인포인트]</a:t>
            </a:r>
            <a:br/>
            <a:r>
              <a:t>"회식이 잦아 과식하기 쉬운데, 오늘 먹은 만큼 무슨 운동을 해야 할지 모르겠어요."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[CaloMate 해결책]</a:t>
            </a:r>
            <a:br/>
            <a:r>
              <a:t>• 섭취/소모 밸런스 기반 당일 맞춤 운동 추천 및 저속노화 가이드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CaloMate 마켓 리서치 | 02.기획문서/마켓리서치.md                                                               Page 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RISK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리스크 요인 및 체계적 대응 전략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AI 오인식, 대형 플랫폼 경쟁, 규제 및 프라이버시 리스크의 선제적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</a:defRPr>
            </a:pPr>
            <a:r>
              <a:t>🥗 CaloMate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⚠️ 리스크 1. AI 오인식 오차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카메라 각도, 조명, 소스 등에 따른 음식 및 중량 추정 오차 발생 가능성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[선제적 대응책]</a:t>
            </a:r>
            <a:br/>
            <a:r>
              <a:t>• 상위 1개 후보 정답률 80% 이상 확보</a:t>
            </a:r>
            <a:br/>
            <a:r>
              <a:t>• 후보군 1탭 교체 &amp; 사람 언어 슬라이더 보정</a:t>
            </a:r>
            <a:br/>
            <a:r>
              <a:t>• 알레르기 미감지 경고 및 의료 면책 상시 고지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7472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🏢 리스크 2. 대형사 기능 모방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MyFitnessPal 등 대기업의 로컬 식단 비전 기능 추가 및 마케팅 공세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[선제적 대응책]</a:t>
            </a:r>
            <a:br/>
            <a:r>
              <a:t>• 고가 구독($19.99) 대비 PWA 무료/합리적 접근성</a:t>
            </a:r>
            <a:br/>
            <a:r>
              <a:t>• 그램 미노출 UX와 15초 완결성으로 속도 우위</a:t>
            </a:r>
            <a:br/>
            <a:r>
              <a:t>• 국내 커뮤니티 및 맞춤 운동 연동 락인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828800"/>
            <a:ext cx="347472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🔒 리스크 3. 프라이버시 규제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민감 건강 정보(체중, 사진) 처리 및 생성형 AI 클라우드 전송 규제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[선제적 대응책]</a:t>
            </a:r>
            <a:br/>
            <a:r>
              <a:t>• 식사 이미지 전송 시 개인 식별 정보 자동 마스킹</a:t>
            </a:r>
            <a:br/>
            <a:r>
              <a:t>• LLM 벤더 계약 시 데이터 학습 배제 보장</a:t>
            </a:r>
            <a:br/>
            <a:r>
              <a:t>• 탈퇴 시 데이터 영구 파기(망각될 권리) 보장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CaloMate 마켓 리서치 | 02.기획문서/마켓리서치.md                                                               Page 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10대 마켓 리서치 출처 및 데이터 신뢰성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글로벌 시장 분석 보고서부터 국내 보건 통계까지 검증된 데이터 기반 기획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</a:defRPr>
            </a:pPr>
            <a:r>
              <a:t>🥗 CaloMate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📚 수집된 10건 마켓 리서치 자료 목록</a:t>
            </a:r>
            <a:br/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1. Grand View Research (2026): 글로벌 식단 및 영양 앱 시장 규모 및 전망 보고서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2. TechCrunch / PR Newswire (2026.03): MyFitnessPal의 Cal AI 인수 및 Meal Scan 기능 탑재 분석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3. Welling AI (2026.08): 2026 신흥 칼로리 트래커 벤치마크 및 벌킹 모드 부상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4. Nutrola Research (2026.07): 11개 주요 칼로리 트래킹 앱 종합 비교 분석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5. GoodMenProject (2026.06): Yazio vs Lifesum 2026 기능 및 사용자 경험 비교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6. 오픈서베이 (OpenSurvey, 2026.05): 2030 직장인 식단 관리 및 헬스케어 트렌드 리포트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7. 질병관리청 &amp; 식약처 (2026.02): 국민건강영양조사 및 한국인 다빈도 섭취 외식 영양성분 DB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8. MacroFactor Case Study (2026.04): 대사량(TDEE) 기반 지능형 칼로리 조정 알고리즘 동향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9. Google Chrome Developers (2026.03): 모바일 PWA 기반 헬스케어 서비스의 채택 이점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10. 개인정보보호위원회 &amp; KISA (2026.06): AI 헬스케어 서비스의 법적 책임 및 프라이버시 가이드라인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CaloMate 마켓 리서치 | 02.기획문서/마켓리서치.md                                                               Page 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향후 로드맵 및 후속 산출물 추진 계획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마켓리서치 완료에 따른 서비스기획서(#4) 및 PWA MVP 개발 가속화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</a:defRPr>
            </a:pPr>
            <a:r>
              <a:t>🥗 CaloMate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6060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Phase 0 (완료)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프로젝트 초기화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PRD.md 개요 작성 완료</a:t>
            </a:r>
            <a:br/>
            <a:r>
              <a:t>NotebookLM 연동 및 통합자료실 셋업 완료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6060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Phase 1 (W3 완료)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기획 착수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착수보고서 완료</a:t>
            </a:r>
            <a:br/>
            <a:r>
              <a:t>마켓리서치(#3) 완료</a:t>
            </a:r>
            <a:br/>
            <a:r>
              <a:t>경쟁 전략 재정의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6060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Phase 2 (차기 진행)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상세 기획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서비스기획서(#4)</a:t>
            </a:r>
            <a:br/>
            <a:r>
              <a:t>요구사항정의서(#5)</a:t>
            </a:r>
            <a:br/>
            <a:r>
              <a:t>기능명세서(#6), 화면설계서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28800"/>
            <a:ext cx="26060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4A3B8"/>
                </a:solidFill>
              </a:defRPr>
            </a:pPr>
            <a:r>
              <a:t>Phase 3 (예정)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MVP 구현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Next.js PWA 프론트엔드</a:t>
            </a:r>
            <a:br/>
            <a:r>
              <a:t>LLM 비전 API 연동</a:t>
            </a:r>
            <a:br/>
            <a:r>
              <a:t>15초 로깅 프로토타입 배포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728655" cy="1463040"/>
          </a:xfrm>
          <a:prstGeom prst="roundRect">
            <a:avLst/>
          </a:prstGeom>
          <a:solidFill>
            <a:srgbClr val="064E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🎯 마켓 리서치 결론: "사진 인식 유무"가 아닌 "누가 더 빠르고 사람 친화적인가"의 승부</a:t>
            </a:r>
          </a:p>
          <a:p>
            <a:br/>
            <a:pPr algn="ctr">
              <a:defRPr sz="1300">
                <a:solidFill>
                  <a:srgbClr val="D1FAE5"/>
                </a:solidFill>
              </a:defRPr>
            </a:pPr>
            <a:r>
              <a:t>CaloMate는 한식 특화 인식, 그램 미노출 100% 사람 언어 슬라이더, 15초 완결 속도로 국내 2030 직장인 식단 관리의 새로운 표준을 정의합니다.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CaloMate 마켓 리서치 | 02.기획문서/마켓리서치.md                                                               Page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