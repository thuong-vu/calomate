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2560320" cy="36576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SOFTWARE REQUIREMENTS (SRS)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CaloMate MVP</a:t>
            </a:r>
          </a:p>
          <a:p>
            <a:pPr>
              <a:defRPr sz="4400" b="1">
                <a:solidFill>
                  <a:srgbClr val="10B981"/>
                </a:solidFill>
              </a:defRPr>
            </a:pPr>
            <a:r>
              <a:t>요구사항 정의서 (SRS)</a:t>
            </a:r>
          </a:p>
          <a:p>
            <a:br/>
            <a:pPr>
              <a:defRPr sz="1500">
                <a:solidFill>
                  <a:srgbClr val="94A3B8"/>
                </a:solidFill>
              </a:defRPr>
            </a:pPr>
            <a:r>
              <a:t>기능 요구사항 15건(Must 12건, Should 3건) 및 비기능 요구사항 8건을 정의하고,</a:t>
            </a:r>
            <a:br/>
            <a:r>
              <a:t>한 끼 15초 기록 완결과 그램 미노출 사람 언어 UX의 정밀한 인수 기준을 수립한 기획 문서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32004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FUNCTIONAL SCOPE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15개 기능 요건 (Must 80%)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4754880"/>
            <a:ext cx="32004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PERFORMANCE TARGET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비전 3초 이내 / 기록 15초 완결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4754880"/>
            <a:ext cx="32004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ACCURACY GOAL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상위 1개 정답률 80% 이상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CaloMate 요구사항 정의서 | 02.기획문서/요구사항정의서.md                                                    Page 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37744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SCOPE &amp; PRIORITIZATION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요구사항 우선순위 매트릭스 (MoSCoW)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착수보고서 및 서비스기획서의 MVP In Scope 원칙에 맞춘 자원 집중 배분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</a:defRPr>
            </a:pPr>
            <a:r>
              <a:t>🥗 CaloMate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60604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MUST (필수)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12개 (80%)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MVP 핵심 파이프라인</a:t>
            </a:r>
            <a:br/>
            <a:br/>
            <a:r>
              <a:t>• 카메라 촬영 및 비전 인식 (REQ-001, 002)</a:t>
            </a:r>
            <a:br/>
            <a:r>
              <a:t>• 사람 언어 배식량 슬라이더 (REQ-003, 004)</a:t>
            </a:r>
            <a:br/>
            <a:r>
              <a:t>• 15초 완결 플로우 (REQ-005)</a:t>
            </a:r>
            <a:br/>
            <a:r>
              <a:t>• 증량/감량/유지 대시보드 (REQ-007~009)</a:t>
            </a:r>
            <a:br/>
            <a:r>
              <a:t>• 히스토리 조회 &amp; PWA 배포 (REQ-011, 013)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60604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SHOULD (중요)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3개 (20%)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사용성 및 리텐션 보강</a:t>
            </a:r>
            <a:br/>
            <a:br/>
            <a:r>
              <a:t>• 오인식 시 대체 후보군 폴백 (REQ-006)</a:t>
            </a:r>
            <a:br/>
            <a:r>
              <a:t>• 섭취 밸런스 기반 맞춤 운동 (REQ-010)</a:t>
            </a:r>
            <a:br/>
            <a:r>
              <a:t>• 서비스 워커 오프라인 캐싱 (REQ-014)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60604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COULD (선택)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2개 (차기)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향후 확장 후보</a:t>
            </a:r>
            <a:br/>
            <a:br/>
            <a:r>
              <a:t>• 주간 식단 리포트 SNS 카드 공유</a:t>
            </a:r>
            <a:br/>
            <a:r>
              <a:t>• 간헐적 단식 타이머 연동</a:t>
            </a:r>
            <a:br/>
            <a:r>
              <a:t>• 식사 알림 푸시 (n8n 연동)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828800"/>
            <a:ext cx="260604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WON'T (제외)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5개 (Out)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명시적 제외 항목</a:t>
            </a:r>
            <a:br/>
            <a:br/>
            <a:r>
              <a:t>• 네이티브 앱스토어 배포 (PWA 대체)</a:t>
            </a:r>
            <a:br/>
            <a:r>
              <a:t>• 스마트워치/웨어러블 하드웨어 연동</a:t>
            </a:r>
            <a:br/>
            <a:r>
              <a:t>• 소셜 랭킹 및 친구 추가</a:t>
            </a:r>
            <a:br/>
            <a:r>
              <a:t>• 유료 구독 및 결제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CaloMate 요구사항 정의서 | 02.기획문서/요구사항정의서.md                                                    Page 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37744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CORE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15초 식사 기록 완결 파이프라인 (REQ-001 ~ REQ-005)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수기 검색과 무게 측정 단계를 완전히 제거한 3단계 초압축 인터랙션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</a:defRPr>
            </a:pPr>
            <a:r>
              <a:t>🥗 CaloMate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REQ-001 (1초)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카메라 촬영 및 업로드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웹 카메라 뷰파인더 즉시 구동. 촬영 즉시 이미지 자동 리사이징 및 압축 후 1초 내 업로드 완료.</a:t>
            </a:r>
            <a:br/>
            <a:br/>
            <a:r>
              <a:t>✓ 모바일 PWA 네이티브 셔터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47472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REQ-002 (3초)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LLM 비전 자동 인식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다중 객체 검출로 밥, 국, 반찬 분할 식별. 칼로리 및 탄단지 매크로 자동 추정 (정답률 80%+).</a:t>
            </a:r>
            <a:br/>
            <a:br/>
            <a:r>
              <a:t>✓ 비전 지연 3초 이내 보장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828800"/>
            <a:ext cx="347472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REQ-003~005 (10초)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사람 언어 보정 &amp; 저장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'밥 반 공기', '찌개 1그릇' 슬라이더 원터치 조절 후 즉시 [기록 완료] 탭. 총 15초 내 DB 영구 저장.</a:t>
            </a:r>
            <a:br/>
            <a:br/>
            <a:r>
              <a:t>✓ 저울 없는 원터치 보정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728655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📋 핵심 인수 기준 (Acceptance Criteria): REQ-005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성능 기준: 정상 네트워크 환경에서 셔터 클릭부터 저장 완료 팝업까지 15.0초 초과 시 테스트 실패</a:t>
            </a:r>
            <a:br/>
            <a:r>
              <a:t>• 다중 객체 검출: 한식 상차림(밥+국+반찬)에서 주 메뉴 2종 이상 자동 분할 카드 표시 필수</a:t>
            </a:r>
            <a:br/>
            <a:r>
              <a:t>• 조작 단순성: 텍스트 입력창 없이 슬라이더/버튼 터치만으로 100% 입력 완료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CaloMate 요구사항 정의서 | 02.기획문서/요구사항정의서.md                                                    Page 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37744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UX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사람 언어 배식량 UI &amp; 그램(g) 미노출 원칙 (REQ-003, REQ-004)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사용자 인지 모델과 백엔드 정밀 데이터베이스 간의 완벽한 양방향 매핑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</a:defRPr>
            </a:pPr>
            <a:r>
              <a:t>🥗 CaloMate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📱 프론트엔드 UI (사람 언어) - REQ-004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• 🍚 흑미밥: [반 공기] | [한 공기 (기본)] | [고봉밥]</a:t>
            </a:r>
            <a:br/>
            <a:r>
              <a:t>• 🥘 차돌된장찌개: [반 그릇] | [1뚝배기 (기본)] | [곱빼기]</a:t>
            </a:r>
            <a:br/>
            <a:r>
              <a:t>• 🥗 밑반찬: [조금] | [보통] | [많이]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🚫 철저한 그램(g) 비노출 원칙:</a:t>
            </a:r>
            <a:br/>
            <a:r>
              <a:t>화면 어디에도 210g, 350g 등 숫자를 기본 노출하지 않음.</a:t>
            </a:r>
            <a:br/>
            <a:r>
              <a:t>사용자가 저울을 상상하지 않고 사람이 말하는 방식으로 입력하도록 유도.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530352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⚙️ 백엔드 표준 영양 DB 연계 구조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식약처 외식 영양성분 DB 매핑:</a:t>
            </a:r>
            <a:br/>
            <a:r>
              <a:t>  - 1공기 = 210g (약 310 kcal, 탄 68g, 단 6g, 지 1g)</a:t>
            </a:r>
            <a:br/>
            <a:r>
              <a:t>  - 1뚝배기 = 400g (약 220 kcal, 탄 12g, 단 14g, 지 12g)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비례 계산 엔진 (Ratio Calculator):</a:t>
            </a:r>
            <a:br/>
            <a:r>
              <a:t>  슬라이더 값(0.5x, 1.0x, 1.5x) 변경 시 내부 칼로리/매크로 실시간 연동.</a:t>
            </a:r>
            <a:br/>
            <a:br/>
            <a:r>
              <a:t>• 인수 검증 기준:</a:t>
            </a:r>
            <a:br/>
            <a:r>
              <a:t>  UI는 '1공기'라도 DB에는 정밀 그램수와 환산 매크로가 정확히 저장되어야 함.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CaloMate 요구사항 정의서 | 02.기획문서/요구사항정의서.md                                                    Page 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37744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GOAL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증량(벌킹) 1급 전용 대시보드 &amp; 목표 밸런스 (REQ-007 ~ REQ-009)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기존 감량 편향 앱의 적색 경고 관성을 탈피하고 증량을 1급 기능으로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</a:defRPr>
            </a:pPr>
            <a:r>
              <a:t>🥗 CaloMate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💪 증량(벌킹) 전용 모드 (REQ-008)</a:t>
            </a:r>
          </a:p>
          <a:p>
            <a:br/>
            <a:pPr>
              <a:defRPr sz="2600" b="1">
                <a:solidFill>
                  <a:srgbClr val="F8FAFC"/>
                </a:solidFill>
              </a:defRPr>
            </a:pPr>
            <a:r>
              <a:t>+380 kcal 잉여 달성! 🎉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"목표치 대비 훌륭하게 잉여 칼로리를 섭취 중입니다."</a:t>
            </a:r>
            <a:br/>
            <a:br/>
            <a:r>
              <a:t>• 컬러 규칙: 초과 섭취 시 절대 빨간색(경고) 사용 금지 → 에메랄드/블루 계열 적용</a:t>
            </a:r>
            <a:br/>
            <a:r>
              <a:t>• 단백질 트래킹: 체중당 1.6g~2.0g 달성도 게이지 상단 배치</a:t>
            </a:r>
            <a:br/>
            <a:r>
              <a:t>• 동기부여: "벌킹 성공!", "근육 합성 골든타임" 긍정 뱃지 트리거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530352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⚖️ 감량 및 유지 밸런스 게이지 (REQ-009)</a:t>
            </a:r>
          </a:p>
          <a:p>
            <a:br/>
            <a:pPr>
              <a:defRPr sz="2600" b="1">
                <a:solidFill>
                  <a:srgbClr val="F8FAFC"/>
                </a:solidFill>
              </a:defRPr>
            </a:pPr>
            <a:r>
              <a:t>오늘의 잔여 540 kcal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"저녁 식사로 가벼운 단백질 위주 식단을 권장합니다."</a:t>
            </a:r>
            <a:br/>
            <a:br/>
            <a:r>
              <a:t>• 원형 게이지: 기초대사량(BMR) + 소모량 대비 섭취량 실시간 시각화</a:t>
            </a:r>
            <a:br/>
            <a:r>
              <a:t>• 잔여 칼로리 연동: 초과 시 즉시 REQ-010 맞춤 유산소 운동 제안</a:t>
            </a:r>
            <a:br/>
            <a:r>
              <a:t>• 감량 페이스: 주간 -0.5kg 안전 감량에 맞춘 일일 칼로리 디피싯 유지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CaloMate 요구사항 정의서 | 02.기획문서/요구사항정의서.md                                                    Page 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37744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ACTIONABLE COACHING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맞춤 운동 추천 &amp; 일/주간 대시보드 (REQ-010, REQ-011)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단순 숫자 조회를 넘어 즉각적인 행동 피드백과 성취감을 제공하는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</a:defRPr>
            </a:pPr>
            <a:r>
              <a:t>🥗 CaloMate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🏃‍♂️ 잔여 밸런스 기반 맞춤 운동 추천 (REQ-010)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감량 모드 (300 kcal 초과 시):</a:t>
            </a:r>
            <a:br/>
            <a:r>
              <a:t>  빠른 걷기 40분 또는 가벼운 러닝 25분 제안 (유산소 우선)</a:t>
            </a:r>
            <a:br/>
            <a:br/>
            <a:r>
              <a:t>• 증량 모드 (단백질 충족 시):</a:t>
            </a:r>
            <a:br/>
            <a:r>
              <a:t>  하체 근력 운동 30분 또는 푸시업 5세트 제안 (근력 우선)</a:t>
            </a:r>
            <a:br/>
            <a:br/>
            <a:r>
              <a:t>• 유지/헬시 모드 (골든 밸런스):</a:t>
            </a:r>
            <a:br/>
            <a:r>
              <a:t>  식후 15분 산책 및 스트레칭 제안 (회복 우선)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530352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📊 일/주간 기록 히스토리 (REQ-011)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캘린더 뷰 &amp; 식사 썸네일 리스트:</a:t>
            </a:r>
            <a:br/>
            <a:r>
              <a:t>  아침/점심/저녁/간식별 실제 음식 사진과 칼로리 요약 타임라인</a:t>
            </a:r>
            <a:br/>
            <a:br/>
            <a:r>
              <a:t>• 주간 매크로 &amp; 체중 추이 차트:</a:t>
            </a:r>
            <a:br/>
            <a:r>
              <a:t>  최근 7일간의 칼로리 섭취량 및 체중 변화 선 그래프</a:t>
            </a:r>
            <a:br/>
            <a:br/>
            <a:r>
              <a:t>• 데이터 로딩 성능:</a:t>
            </a:r>
            <a:br/>
            <a:r>
              <a:t>  날짜 전환 시 300ms 이내에 해당일 식사 기록 즉각 렌더링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CaloMate 요구사항 정의서 | 02.기획문서/요구사항정의서.md                                                    Page 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37744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NON-FUNCTIONAL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비기능 요구사항: 성능, 정확도, 보안 기준 (NFR-001 ~ NFR-008)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출시 전후 엄격한 검증을 통과해야 하는 8대 엔지니어링 벤치마크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</a:defRPr>
            </a:pPr>
            <a:r>
              <a:t>🥗 CaloMate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60604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NFR-001 &amp; 002</a:t>
            </a:r>
            <a:br/>
            <a:r>
              <a:t>성능 및 속도 기준</a:t>
            </a:r>
          </a:p>
          <a:p>
            <a:br/>
            <a:pPr>
              <a:defRPr sz="2600" b="1">
                <a:solidFill>
                  <a:srgbClr val="F8FAFC"/>
                </a:solidFill>
              </a:defRPr>
            </a:pPr>
            <a:r>
              <a:t>3s / 15s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비전 분석 반환: 3초 이내</a:t>
            </a:r>
            <a:br/>
            <a:r>
              <a:t>• 한 끼 전체 기록: 15초 이내 완결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60604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0A5FA"/>
                </a:solidFill>
              </a:defRPr>
            </a:pPr>
            <a:r>
              <a:t>NFR-003</a:t>
            </a:r>
            <a:br/>
            <a:r>
              <a:t>인식 품질 정확도</a:t>
            </a:r>
          </a:p>
          <a:p>
            <a:br/>
            <a:pPr>
              <a:defRPr sz="2600" b="1">
                <a:solidFill>
                  <a:srgbClr val="F8FAFC"/>
                </a:solidFill>
              </a:defRPr>
            </a:pPr>
            <a:r>
              <a:t>80%+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한식 상차림 기준 상위 1개 정답률 80% 이상 확보</a:t>
            </a:r>
            <a:br/>
            <a:r>
              <a:t>• 100종 표준 데이터셋 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60604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NFR-004 &amp; 005</a:t>
            </a:r>
            <a:br/>
            <a:r>
              <a:t>보안 및 개인정보</a:t>
            </a:r>
          </a:p>
          <a:p>
            <a:br/>
            <a:pPr>
              <a:defRPr sz="2600" b="1">
                <a:solidFill>
                  <a:srgbClr val="F8FAFC"/>
                </a:solidFill>
              </a:defRPr>
            </a:pPr>
            <a:r>
              <a:t>AES-256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사진 전송 전 EXIF 위치/얼굴 100% 자동 마스킹</a:t>
            </a:r>
            <a:br/>
            <a:r>
              <a:t>• TLS 1.3 암호화 저장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828800"/>
            <a:ext cx="260604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NFR-007 &amp; 008</a:t>
            </a:r>
            <a:br/>
            <a:r>
              <a:t>확장성 및 가용성</a:t>
            </a:r>
          </a:p>
          <a:p>
            <a:br/>
            <a:pPr>
              <a:defRPr sz="2600" b="1">
                <a:solidFill>
                  <a:srgbClr val="F8FAFC"/>
                </a:solidFill>
              </a:defRPr>
            </a:pPr>
            <a:r>
              <a:t>99.9%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LLM API(OpenAI/Gemini) 전략 패턴 추상화</a:t>
            </a:r>
            <a:br/>
            <a:r>
              <a:t>• Vercel 서버리스 무중단 배포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CaloMate 요구사항 정의서 | 02.기획문서/요구사항정의서.md                                                    Page 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37744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USER 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핵심 사용자 스토리 (US-001 ~ US-006)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사용자가 체감하는 실질적 가치와 엔지니어링 요구사항의 연계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</a:defRPr>
            </a:pPr>
            <a:r>
              <a:t>🥗 CaloMate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US-001 &amp; 002 | 점심 15초 기록 (P1)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바쁜 다이어트 직장인은,</a:t>
            </a:r>
            <a:br/>
            <a:r>
              <a:t>음식 사진을 찍으면 3초 안에 채워주길 원한다.</a:t>
            </a:r>
            <a:br/>
            <a:r>
              <a:t>동료 눈치 없이 15초 안에 기록을 마치기 위해.</a:t>
            </a:r>
            <a:br/>
            <a:br/>
            <a:r>
              <a:t>✓ REQ-001, 002, 005 연결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47472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US-003 | 벌킹 잉여 칼로리 축하 (P2)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증량 중인 웨이트 직장인은,</a:t>
            </a:r>
            <a:br/>
            <a:r>
              <a:t>칼로리 초과를 경고가 아닌 긍정적 잉여로 보길 원한다.</a:t>
            </a:r>
            <a:br/>
            <a:r>
              <a:t>죄책감 없이 근육을 늘리고 동기부여 받기 위해.</a:t>
            </a:r>
            <a:br/>
            <a:br/>
            <a:r>
              <a:t>✓ REQ-007, 008 연결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828800"/>
            <a:ext cx="347472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US-005 &amp; 006 | 운동 추천 &amp; PWA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모바일 웹 사용자는,</a:t>
            </a:r>
            <a:br/>
            <a:r>
              <a:t>앱 설치 없이 켜고, 먹은 만큼 맞춤 운동을 추천받길 원한다.</a:t>
            </a:r>
            <a:br/>
            <a:r>
              <a:t>번거로움 없이 일상 속에서 칼로리를 통제하기 위해.</a:t>
            </a:r>
            <a:br/>
            <a:br/>
            <a:r>
              <a:t>✓ REQ-010, 013, 014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CaloMate 요구사항 정의서 | 02.기획문서/요구사항정의서.md                                                    Page 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37744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COMPLIANCE &amp;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플랫폼 아키텍처 및 법적/개인정보 보호 요건 (REQ-012 ~ REQ-015)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PWA 기반 배포, 의료 면책 조항, 망각될 권리의 완벽한 이행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</a:defRPr>
            </a:pPr>
            <a:r>
              <a:t>🥗 CaloMate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📲 PWA &amp; 오프라인 캐싱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REQ-013: Standalone 모드 지원, 스토어 수수료 0% 회피</a:t>
            </a:r>
            <a:br/>
            <a:r>
              <a:t>• REQ-014: 서비스 워커 캐싱으로 최근 7일 식사 히스토리 오프라인 조회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47472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⚖️ 의료 면책 &amp; 알레르기 고지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REQ-012: AI 분석 수치는 추정치이며 의학적 조언이 아님을 상시 명시</a:t>
            </a:r>
            <a:br/>
            <a:r>
              <a:t>• 사진으로 보이지 않는 숨은 알레르기 유발 항원 미감지 경고 필수 노출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828800"/>
            <a:ext cx="347472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🛡️ 망각될 권리 &amp; 개인정보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REQ-015: 이미지 전송 전 얼굴/위치 EXIF 완전 마스킹</a:t>
            </a:r>
            <a:br/>
            <a:r>
              <a:t>• 회원 탈퇴 시 모든 사진 및 건강 수치 복구 불가능 영구 파기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CaloMate 요구사항 정의서 | 02.기획문서/요구사항정의서.md                                                    Page 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377440" cy="320040"/>
          </a:xfrm>
          <a:prstGeom prst="roundRect">
            <a:avLst/>
          </a:prstGeom>
          <a:solidFill>
            <a:srgbClr val="10B981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TRACEABILITY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요구사항 추적성 매트릭스 &amp; 차기 산출물 연계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요구사항정의서(#5) 승인에 따른 기능명세서(#6) 및 개발 트랙 전개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0B981"/>
                </a:solidFill>
              </a:defRPr>
            </a:pPr>
            <a:r>
              <a:t>🥗 CaloMate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60604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STEP 01 (완료)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#4 서비스기획서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F-1~F-6 MVP 기능 및 가치제안 확정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60604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STEP 02 (CURRENT)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#5 요구사항정의서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REQ 15건 / NFR 8건 / MoSCoW 수립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60604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STEP 03 (NEXT)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#6 기능명세서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화면별 컴포넌트 상세 로직/예외 정의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828800"/>
            <a:ext cx="260604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STEP 04 (PARALLEL)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#7 API / #8 IA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REST API 스펙 및 IA 화면 설계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728655" cy="1463040"/>
          </a:xfrm>
          <a:prstGeom prst="roundRect">
            <a:avLst/>
          </a:prstGeom>
          <a:solidFill>
            <a:srgbClr val="064E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🎯 요구사항 정의서 결론: "모든 엔지니어링 요건은 15초 기록 완결성을 향해 정렬된다"</a:t>
            </a:r>
          </a:p>
          <a:p>
            <a:br/>
            <a:pPr algn="ctr">
              <a:defRPr sz="1300">
                <a:solidFill>
                  <a:srgbClr val="D1FAE5"/>
                </a:solidFill>
              </a:defRPr>
            </a:pPr>
            <a:r>
              <a:t>본 요구사항정의서는 그램 환산과 수기 검색을 완전히 제거하고, LLM 비전 자동화와 사람 언어 슬라이더로 대체하는 구체적 엔지니어링 명세를 확립했습니다.</a:t>
            </a:r>
            <a:br/>
            <a:r>
              <a:t>정의된 인수 기준은 #15 테스트시나리오 및 QA 검수 기준으로 100% 직결됩니다.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CaloMate 요구사항 정의서 | 02.기획문서/요구사항정의서.md                                                    Page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