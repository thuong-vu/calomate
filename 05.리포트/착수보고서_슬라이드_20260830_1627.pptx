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777240"/>
            <a:ext cx="5486400" cy="365760"/>
          </a:xfrm>
          <a:prstGeom prst="rect">
            <a:avLst/>
          </a:prstGeom>
          <a:noFill/>
        </p:spPr>
        <p:txBody>
          <a:bodyPr wrap="square" anchor="t" lIns="0" rIns="0" tIns="0" bIns="0">
            <a:spAutoFit/>
          </a:bodyPr>
          <a:lstStyle/>
          <a:p>
            <a:pPr algn="l">
              <a:lnSpc>
                <a:spcPct val="100000"/>
              </a:lnSpc>
            </a:pPr>
            <a:r>
              <a:rPr sz="1300" b="1">
                <a:solidFill>
                  <a:srgbClr val="7A3C1D"/>
                </a:solidFill>
                <a:latin typeface="Malgun Gothic"/>
              </a:rPr>
              <a:t>●  착수보고서 · Week 2</a:t>
            </a:r>
          </a:p>
        </p:txBody>
      </p:sp>
      <p:sp>
        <p:nvSpPr>
          <p:cNvPr id="3" name="TextBox 2"/>
          <p:cNvSpPr txBox="1"/>
          <p:nvPr/>
        </p:nvSpPr>
        <p:spPr>
          <a:xfrm>
            <a:off x="731520" y="1143000"/>
            <a:ext cx="7315200" cy="1371600"/>
          </a:xfrm>
          <a:prstGeom prst="rect">
            <a:avLst/>
          </a:prstGeom>
          <a:noFill/>
        </p:spPr>
        <p:txBody>
          <a:bodyPr wrap="square" anchor="t" lIns="0" rIns="0" tIns="0" bIns="0">
            <a:spAutoFit/>
          </a:bodyPr>
          <a:lstStyle/>
          <a:p>
            <a:pPr algn="l">
              <a:lnSpc>
                <a:spcPct val="100000"/>
              </a:lnSpc>
            </a:pPr>
            <a:r>
              <a:rPr sz="7200" b="1">
                <a:solidFill>
                  <a:srgbClr val="2B211B"/>
                </a:solidFill>
                <a:latin typeface="Malgun Gothic"/>
              </a:rPr>
              <a:t>CaloMate</a:t>
            </a:r>
          </a:p>
        </p:txBody>
      </p:sp>
      <p:sp>
        <p:nvSpPr>
          <p:cNvPr id="4" name="TextBox 3"/>
          <p:cNvSpPr txBox="1"/>
          <p:nvPr/>
        </p:nvSpPr>
        <p:spPr>
          <a:xfrm>
            <a:off x="777240" y="2286000"/>
            <a:ext cx="6858000" cy="1097280"/>
          </a:xfrm>
          <a:prstGeom prst="rect">
            <a:avLst/>
          </a:prstGeom>
          <a:noFill/>
        </p:spPr>
        <p:txBody>
          <a:bodyPr wrap="square" anchor="t" lIns="0" rIns="0" tIns="0" bIns="0">
            <a:spAutoFit/>
          </a:bodyPr>
          <a:lstStyle/>
          <a:p>
            <a:pPr algn="l">
              <a:lnSpc>
                <a:spcPct val="130000"/>
              </a:lnSpc>
            </a:pPr>
            <a:r>
              <a:rPr sz="1900" b="0">
                <a:solidFill>
                  <a:srgbClr val="6B5F56"/>
                </a:solidFill>
                <a:latin typeface="Malgun Gothic"/>
              </a:rPr>
              <a:t>사진 한 장, 15초, 그램 없이 완성하는</a:t>
            </a:r>
          </a:p>
          <a:p>
            <a:pPr algn="l">
              <a:lnSpc>
                <a:spcPct val="130000"/>
              </a:lnSpc>
            </a:pPr>
            <a:r>
              <a:rPr sz="1900" b="0">
                <a:solidFill>
                  <a:srgbClr val="6B5F56"/>
                </a:solidFill>
                <a:latin typeface="Malgun Gothic"/>
              </a:rPr>
              <a:t>한식 중심 칼로리 트래커</a:t>
            </a:r>
          </a:p>
        </p:txBody>
      </p:sp>
      <p:sp>
        <p:nvSpPr>
          <p:cNvPr id="5" name="Rounded Rectangle 4"/>
          <p:cNvSpPr/>
          <p:nvPr/>
        </p:nvSpPr>
        <p:spPr>
          <a:xfrm>
            <a:off x="777240" y="5074920"/>
            <a:ext cx="1028700" cy="457200"/>
          </a:xfrm>
          <a:prstGeom prst="roundRect">
            <a:avLst>
              <a:gd name="adj" fmla="val 50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1">
                <a:solidFill>
                  <a:srgbClr val="7A3C1D"/>
                </a:solidFill>
                <a:latin typeface="Malgun Gothic"/>
              </a:rPr>
              <a:t>사진 인식</a:t>
            </a:r>
          </a:p>
        </p:txBody>
      </p:sp>
      <p:sp>
        <p:nvSpPr>
          <p:cNvPr id="6" name="Rounded Rectangle 5"/>
          <p:cNvSpPr/>
          <p:nvPr/>
        </p:nvSpPr>
        <p:spPr>
          <a:xfrm>
            <a:off x="1970531" y="5074920"/>
            <a:ext cx="1170431" cy="457200"/>
          </a:xfrm>
          <a:prstGeom prst="roundRect">
            <a:avLst>
              <a:gd name="adj" fmla="val 50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1">
                <a:solidFill>
                  <a:srgbClr val="7A3C1D"/>
                </a:solidFill>
                <a:latin typeface="Malgun Gothic"/>
              </a:rPr>
              <a:t>배식량 보정</a:t>
            </a:r>
          </a:p>
        </p:txBody>
      </p:sp>
      <p:sp>
        <p:nvSpPr>
          <p:cNvPr id="7" name="Rounded Rectangle 6"/>
          <p:cNvSpPr/>
          <p:nvPr/>
        </p:nvSpPr>
        <p:spPr>
          <a:xfrm>
            <a:off x="3305555" y="5074920"/>
            <a:ext cx="1453895" cy="457200"/>
          </a:xfrm>
          <a:prstGeom prst="roundRect">
            <a:avLst>
              <a:gd name="adj" fmla="val 50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1">
                <a:solidFill>
                  <a:srgbClr val="7A3C1D"/>
                </a:solidFill>
                <a:latin typeface="Malgun Gothic"/>
              </a:rPr>
              <a:t>체중 목표 추적</a:t>
            </a:r>
          </a:p>
        </p:txBody>
      </p:sp>
      <p:sp>
        <p:nvSpPr>
          <p:cNvPr id="8" name="Rounded Rectangle 7"/>
          <p:cNvSpPr/>
          <p:nvPr/>
        </p:nvSpPr>
        <p:spPr>
          <a:xfrm>
            <a:off x="4924043" y="5074920"/>
            <a:ext cx="1028700" cy="457200"/>
          </a:xfrm>
          <a:prstGeom prst="roundRect">
            <a:avLst>
              <a:gd name="adj" fmla="val 50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1">
                <a:solidFill>
                  <a:srgbClr val="7A3C1D"/>
                </a:solidFill>
                <a:latin typeface="Malgun Gothic"/>
              </a:rPr>
              <a:t>운동 추천</a:t>
            </a:r>
          </a:p>
        </p:txBody>
      </p:sp>
      <p:sp>
        <p:nvSpPr>
          <p:cNvPr id="9" name="TextBox 8"/>
          <p:cNvSpPr txBox="1"/>
          <p:nvPr/>
        </p:nvSpPr>
        <p:spPr>
          <a:xfrm>
            <a:off x="777240" y="5989320"/>
            <a:ext cx="7315200" cy="365760"/>
          </a:xfrm>
          <a:prstGeom prst="rect">
            <a:avLst/>
          </a:prstGeom>
          <a:noFill/>
        </p:spPr>
        <p:txBody>
          <a:bodyPr wrap="square" anchor="t" lIns="0" rIns="0" tIns="0" bIns="0">
            <a:spAutoFit/>
          </a:bodyPr>
          <a:lstStyle/>
          <a:p>
            <a:pPr algn="l">
              <a:lnSpc>
                <a:spcPct val="100000"/>
              </a:lnSpc>
            </a:pPr>
            <a:r>
              <a:rPr sz="1100" b="0">
                <a:solidFill>
                  <a:srgbClr val="6B5F56"/>
                </a:solidFill>
                <a:latin typeface="Malgun Gothic"/>
              </a:rPr>
              <a:t>작성일 2026-08-30   ·   작성자 PM   ·   AP-Framework V0.43</a:t>
            </a:r>
          </a:p>
        </p:txBody>
      </p:sp>
      <p:sp>
        <p:nvSpPr>
          <p:cNvPr id="10" name="Oval 9"/>
          <p:cNvSpPr/>
          <p:nvPr/>
        </p:nvSpPr>
        <p:spPr>
          <a:xfrm>
            <a:off x="8778240" y="-822960"/>
            <a:ext cx="4754880" cy="475488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0" y="-822960"/>
            <a:ext cx="4754880" cy="4754880"/>
          </a:xfrm>
          <a:prstGeom prst="ellipse">
            <a:avLst/>
          </a:prstGeom>
          <a:noFill/>
          <a:ln w="15240">
            <a:solidFill>
              <a:srgbClr val="F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92640" y="91440"/>
            <a:ext cx="2926080" cy="292608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92640" y="91440"/>
            <a:ext cx="2926080" cy="2926080"/>
          </a:xfrm>
          <a:prstGeom prst="ellipse">
            <a:avLst/>
          </a:prstGeom>
          <a:noFill/>
          <a:ln w="19050">
            <a:solidFill>
              <a:srgbClr val="D97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01</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프로젝트 개요</a:t>
            </a:r>
          </a:p>
        </p:txBody>
      </p:sp>
      <p:sp>
        <p:nvSpPr>
          <p:cNvPr id="4" name="TextBox 3"/>
          <p:cNvSpPr txBox="1"/>
          <p:nvPr/>
        </p:nvSpPr>
        <p:spPr>
          <a:xfrm>
            <a:off x="548640" y="1051560"/>
            <a:ext cx="5943600" cy="1737360"/>
          </a:xfrm>
          <a:prstGeom prst="rect">
            <a:avLst/>
          </a:prstGeom>
          <a:noFill/>
        </p:spPr>
        <p:txBody>
          <a:bodyPr wrap="square" anchor="t" lIns="0" rIns="0" tIns="0" bIns="0">
            <a:spAutoFit/>
          </a:bodyPr>
          <a:lstStyle/>
          <a:p>
            <a:pPr algn="l">
              <a:lnSpc>
                <a:spcPct val="135000"/>
              </a:lnSpc>
            </a:pPr>
            <a:r>
              <a:rPr sz="1250" b="0">
                <a:solidFill>
                  <a:srgbClr val="6B5F56"/>
                </a:solidFill>
                <a:latin typeface="Malgun Gothic"/>
              </a:rPr>
              <a:t>CaloMate는 사진 한 장으로 식사를 기록하는 PWA 칼로리 트래커다. 음식을 촬영하면 LLM 비전 API가 음식 종류와 구성을 자동 인식하고, 배식량은 그램 환산이 아니라 "1그릇, 1접시, 1인분"처럼 사람이 실제로 말하는 단위로 보정한다. 체중 목표는 증량·감량·유지를 동등한 우선순위로 지원한다.</a:t>
            </a:r>
          </a:p>
        </p:txBody>
      </p:sp>
      <p:sp>
        <p:nvSpPr>
          <p:cNvPr id="5" name="Rounded Rectangle 4"/>
          <p:cNvSpPr/>
          <p:nvPr/>
        </p:nvSpPr>
        <p:spPr>
          <a:xfrm>
            <a:off x="548640" y="2880360"/>
            <a:ext cx="5943600" cy="960120"/>
          </a:xfrm>
          <a:prstGeom prst="roundRect">
            <a:avLst>
              <a:gd name="adj" fmla="val 15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035808"/>
            <a:ext cx="5303520" cy="274320"/>
          </a:xfrm>
          <a:prstGeom prst="rect">
            <a:avLst/>
          </a:prstGeom>
          <a:noFill/>
        </p:spPr>
        <p:txBody>
          <a:bodyPr wrap="square" anchor="t" lIns="0" rIns="0" tIns="0" bIns="0">
            <a:spAutoFit/>
          </a:bodyPr>
          <a:lstStyle/>
          <a:p>
            <a:pPr algn="l">
              <a:lnSpc>
                <a:spcPct val="100000"/>
              </a:lnSpc>
            </a:pPr>
            <a:r>
              <a:rPr sz="1100" b="1">
                <a:solidFill>
                  <a:srgbClr val="7A3C1D"/>
                </a:solidFill>
                <a:latin typeface="Malgun Gothic"/>
              </a:rPr>
              <a:t>핵심 UX 목표</a:t>
            </a:r>
          </a:p>
        </p:txBody>
      </p:sp>
      <p:sp>
        <p:nvSpPr>
          <p:cNvPr id="7" name="TextBox 6"/>
          <p:cNvSpPr txBox="1"/>
          <p:nvPr/>
        </p:nvSpPr>
        <p:spPr>
          <a:xfrm>
            <a:off x="777240" y="3310128"/>
            <a:ext cx="5303520" cy="457200"/>
          </a:xfrm>
          <a:prstGeom prst="rect">
            <a:avLst/>
          </a:prstGeom>
          <a:noFill/>
        </p:spPr>
        <p:txBody>
          <a:bodyPr wrap="square" anchor="t" lIns="0" rIns="0" tIns="0" bIns="0">
            <a:spAutoFit/>
          </a:bodyPr>
          <a:lstStyle/>
          <a:p>
            <a:pPr algn="l">
              <a:lnSpc>
                <a:spcPct val="100000"/>
              </a:lnSpc>
            </a:pPr>
            <a:r>
              <a:rPr sz="1800" b="1">
                <a:solidFill>
                  <a:srgbClr val="2B211B"/>
                </a:solidFill>
                <a:latin typeface="Malgun Gothic"/>
              </a:rPr>
              <a:t>한 끼 기록을 15초 이내에 완료</a:t>
            </a:r>
          </a:p>
        </p:txBody>
      </p:sp>
      <p:sp>
        <p:nvSpPr>
          <p:cNvPr id="8" name="Rounded Rectangle 7"/>
          <p:cNvSpPr/>
          <p:nvPr/>
        </p:nvSpPr>
        <p:spPr>
          <a:xfrm>
            <a:off x="548640" y="3977639"/>
            <a:ext cx="5943600" cy="1691640"/>
          </a:xfrm>
          <a:prstGeom prst="roundRect">
            <a:avLst>
              <a:gd name="adj" fmla="val 15000"/>
            </a:avLst>
          </a:prstGeom>
          <a:no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114800"/>
            <a:ext cx="5303520" cy="274320"/>
          </a:xfrm>
          <a:prstGeom prst="rect">
            <a:avLst/>
          </a:prstGeom>
          <a:noFill/>
        </p:spPr>
        <p:txBody>
          <a:bodyPr wrap="square" anchor="t" lIns="0" rIns="0" tIns="0" bIns="0">
            <a:spAutoFit/>
          </a:bodyPr>
          <a:lstStyle/>
          <a:p>
            <a:pPr algn="l">
              <a:lnSpc>
                <a:spcPct val="100000"/>
              </a:lnSpc>
            </a:pPr>
            <a:r>
              <a:rPr sz="1100" b="1">
                <a:solidFill>
                  <a:srgbClr val="1F5E4E"/>
                </a:solidFill>
                <a:latin typeface="Malgun Gothic"/>
              </a:rPr>
              <a:t>시장 환경 업데이트 (2026-08-30)</a:t>
            </a:r>
          </a:p>
        </p:txBody>
      </p:sp>
      <p:sp>
        <p:nvSpPr>
          <p:cNvPr id="10" name="TextBox 9"/>
          <p:cNvSpPr txBox="1"/>
          <p:nvPr/>
        </p:nvSpPr>
        <p:spPr>
          <a:xfrm>
            <a:off x="777240" y="4407408"/>
            <a:ext cx="5303520" cy="1188720"/>
          </a:xfrm>
          <a:prstGeom prst="rect">
            <a:avLst/>
          </a:prstGeom>
          <a:noFill/>
        </p:spPr>
        <p:txBody>
          <a:bodyPr wrap="square" anchor="t" lIns="0" rIns="0" tIns="0" bIns="0">
            <a:spAutoFit/>
          </a:bodyPr>
          <a:lstStyle/>
          <a:p>
            <a:pPr algn="l">
              <a:lnSpc>
                <a:spcPct val="130000"/>
              </a:lnSpc>
            </a:pPr>
            <a:r>
              <a:rPr sz="1100" b="0">
                <a:solidFill>
                  <a:srgbClr val="6B5F56"/>
                </a:solidFill>
                <a:latin typeface="Malgun Gothic"/>
              </a:rPr>
              <a:t>MyFitnessPal이 Cal AI 인수로 사진 인식 기능을 이미 탑재했고, Welling이 직접 경쟁자로 부상. CaloMate의 차별점은 한식 인식 정확도 · 그램 미노출 UX · 15초 기록 · 증량 전용 설계에 있다.</a:t>
            </a:r>
          </a:p>
        </p:txBody>
      </p:sp>
      <p:sp>
        <p:nvSpPr>
          <p:cNvPr id="11" name="Rounded Rectangle 10"/>
          <p:cNvSpPr/>
          <p:nvPr/>
        </p:nvSpPr>
        <p:spPr>
          <a:xfrm>
            <a:off x="6858000" y="1051560"/>
            <a:ext cx="2331720" cy="1828800"/>
          </a:xfrm>
          <a:prstGeom prst="roundRect">
            <a:avLst>
              <a:gd name="adj" fmla="val 12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1280160"/>
            <a:ext cx="1874519" cy="365760"/>
          </a:xfrm>
          <a:prstGeom prst="rect">
            <a:avLst/>
          </a:prstGeom>
          <a:noFill/>
        </p:spPr>
        <p:txBody>
          <a:bodyPr wrap="square" anchor="t" lIns="0" rIns="0" tIns="0" bIns="0">
            <a:spAutoFit/>
          </a:bodyPr>
          <a:lstStyle/>
          <a:p>
            <a:pPr algn="l">
              <a:lnSpc>
                <a:spcPct val="100000"/>
              </a:lnSpc>
            </a:pPr>
            <a:r>
              <a:rPr sz="1350" b="1">
                <a:solidFill>
                  <a:srgbClr val="2B211B"/>
                </a:solidFill>
                <a:latin typeface="Malgun Gothic"/>
              </a:rPr>
              <a:t>사진 기반 인식</a:t>
            </a:r>
          </a:p>
        </p:txBody>
      </p:sp>
      <p:sp>
        <p:nvSpPr>
          <p:cNvPr id="13" name="TextBox 12"/>
          <p:cNvSpPr txBox="1"/>
          <p:nvPr/>
        </p:nvSpPr>
        <p:spPr>
          <a:xfrm>
            <a:off x="7086600" y="1737360"/>
            <a:ext cx="1874519" cy="914400"/>
          </a:xfrm>
          <a:prstGeom prst="rect">
            <a:avLst/>
          </a:prstGeom>
          <a:noFill/>
        </p:spPr>
        <p:txBody>
          <a:bodyPr wrap="square" anchor="t" lIns="0" rIns="0" tIns="0" bIns="0">
            <a:spAutoFit/>
          </a:bodyPr>
          <a:lstStyle/>
          <a:p>
            <a:pPr algn="l">
              <a:lnSpc>
                <a:spcPct val="130000"/>
              </a:lnSpc>
            </a:pPr>
            <a:r>
              <a:rPr sz="1050" b="0">
                <a:solidFill>
                  <a:srgbClr val="6B5F56"/>
                </a:solidFill>
                <a:latin typeface="Malgun Gothic"/>
              </a:rPr>
              <a:t>촬영 → LLM 비전 API → 음식·칼로리·영양성분 추정</a:t>
            </a:r>
          </a:p>
        </p:txBody>
      </p:sp>
      <p:sp>
        <p:nvSpPr>
          <p:cNvPr id="14" name="Rounded Rectangle 13"/>
          <p:cNvSpPr/>
          <p:nvPr/>
        </p:nvSpPr>
        <p:spPr>
          <a:xfrm>
            <a:off x="9372600" y="1051560"/>
            <a:ext cx="2331720" cy="1828800"/>
          </a:xfrm>
          <a:prstGeom prst="roundRect">
            <a:avLst>
              <a:gd name="adj" fmla="val 12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1280160"/>
            <a:ext cx="1874519" cy="365760"/>
          </a:xfrm>
          <a:prstGeom prst="rect">
            <a:avLst/>
          </a:prstGeom>
          <a:noFill/>
        </p:spPr>
        <p:txBody>
          <a:bodyPr wrap="square" anchor="t" lIns="0" rIns="0" tIns="0" bIns="0">
            <a:spAutoFit/>
          </a:bodyPr>
          <a:lstStyle/>
          <a:p>
            <a:pPr algn="l">
              <a:lnSpc>
                <a:spcPct val="100000"/>
              </a:lnSpc>
            </a:pPr>
            <a:r>
              <a:rPr sz="1350" b="1">
                <a:solidFill>
                  <a:srgbClr val="2B211B"/>
                </a:solidFill>
                <a:latin typeface="Malgun Gothic"/>
              </a:rPr>
              <a:t>사람 언어 보정</a:t>
            </a:r>
          </a:p>
        </p:txBody>
      </p:sp>
      <p:sp>
        <p:nvSpPr>
          <p:cNvPr id="16" name="TextBox 15"/>
          <p:cNvSpPr txBox="1"/>
          <p:nvPr/>
        </p:nvSpPr>
        <p:spPr>
          <a:xfrm>
            <a:off x="9601200" y="1737360"/>
            <a:ext cx="1874519" cy="914400"/>
          </a:xfrm>
          <a:prstGeom prst="rect">
            <a:avLst/>
          </a:prstGeom>
          <a:noFill/>
        </p:spPr>
        <p:txBody>
          <a:bodyPr wrap="square" anchor="t" lIns="0" rIns="0" tIns="0" bIns="0">
            <a:spAutoFit/>
          </a:bodyPr>
          <a:lstStyle/>
          <a:p>
            <a:pPr algn="l">
              <a:lnSpc>
                <a:spcPct val="130000"/>
              </a:lnSpc>
            </a:pPr>
            <a:r>
              <a:rPr sz="1050" b="0">
                <a:solidFill>
                  <a:srgbClr val="6B5F56"/>
                </a:solidFill>
                <a:latin typeface="Malgun Gothic"/>
              </a:rPr>
              <a:t>그램 대신 1그릇 · 1접시 · 1인분 단위 UI</a:t>
            </a:r>
          </a:p>
        </p:txBody>
      </p:sp>
      <p:sp>
        <p:nvSpPr>
          <p:cNvPr id="17" name="Rounded Rectangle 16"/>
          <p:cNvSpPr/>
          <p:nvPr/>
        </p:nvSpPr>
        <p:spPr>
          <a:xfrm>
            <a:off x="6858000" y="3063240"/>
            <a:ext cx="2331720" cy="1828800"/>
          </a:xfrm>
          <a:prstGeom prst="roundRect">
            <a:avLst>
              <a:gd name="adj" fmla="val 12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3291840"/>
            <a:ext cx="1874519" cy="365760"/>
          </a:xfrm>
          <a:prstGeom prst="rect">
            <a:avLst/>
          </a:prstGeom>
          <a:noFill/>
        </p:spPr>
        <p:txBody>
          <a:bodyPr wrap="square" anchor="t" lIns="0" rIns="0" tIns="0" bIns="0">
            <a:spAutoFit/>
          </a:bodyPr>
          <a:lstStyle/>
          <a:p>
            <a:pPr algn="l">
              <a:lnSpc>
                <a:spcPct val="100000"/>
              </a:lnSpc>
            </a:pPr>
            <a:r>
              <a:rPr sz="1350" b="1">
                <a:solidFill>
                  <a:srgbClr val="2B211B"/>
                </a:solidFill>
                <a:latin typeface="Malgun Gothic"/>
              </a:rPr>
              <a:t>체중 목표 추적</a:t>
            </a:r>
          </a:p>
        </p:txBody>
      </p:sp>
      <p:sp>
        <p:nvSpPr>
          <p:cNvPr id="19" name="TextBox 18"/>
          <p:cNvSpPr txBox="1"/>
          <p:nvPr/>
        </p:nvSpPr>
        <p:spPr>
          <a:xfrm>
            <a:off x="7086600" y="3749039"/>
            <a:ext cx="1874519" cy="914400"/>
          </a:xfrm>
          <a:prstGeom prst="rect">
            <a:avLst/>
          </a:prstGeom>
          <a:noFill/>
        </p:spPr>
        <p:txBody>
          <a:bodyPr wrap="square" anchor="t" lIns="0" rIns="0" tIns="0" bIns="0">
            <a:spAutoFit/>
          </a:bodyPr>
          <a:lstStyle/>
          <a:p>
            <a:pPr algn="l">
              <a:lnSpc>
                <a:spcPct val="130000"/>
              </a:lnSpc>
            </a:pPr>
            <a:r>
              <a:rPr sz="1050" b="0">
                <a:solidFill>
                  <a:srgbClr val="6B5F56"/>
                </a:solidFill>
                <a:latin typeface="Malgun Gothic"/>
              </a:rPr>
              <a:t>증량·감량·유지, 칼로리 밸런스·체중 추이 시각화</a:t>
            </a:r>
          </a:p>
        </p:txBody>
      </p:sp>
      <p:sp>
        <p:nvSpPr>
          <p:cNvPr id="20" name="Rounded Rectangle 19"/>
          <p:cNvSpPr/>
          <p:nvPr/>
        </p:nvSpPr>
        <p:spPr>
          <a:xfrm>
            <a:off x="9372600" y="3063240"/>
            <a:ext cx="2331720" cy="1828800"/>
          </a:xfrm>
          <a:prstGeom prst="roundRect">
            <a:avLst>
              <a:gd name="adj" fmla="val 12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3291840"/>
            <a:ext cx="1874519" cy="365760"/>
          </a:xfrm>
          <a:prstGeom prst="rect">
            <a:avLst/>
          </a:prstGeom>
          <a:noFill/>
        </p:spPr>
        <p:txBody>
          <a:bodyPr wrap="square" anchor="t" lIns="0" rIns="0" tIns="0" bIns="0">
            <a:spAutoFit/>
          </a:bodyPr>
          <a:lstStyle/>
          <a:p>
            <a:pPr algn="l">
              <a:lnSpc>
                <a:spcPct val="100000"/>
              </a:lnSpc>
            </a:pPr>
            <a:r>
              <a:rPr sz="1350" b="1">
                <a:solidFill>
                  <a:srgbClr val="2B211B"/>
                </a:solidFill>
                <a:latin typeface="Malgun Gothic"/>
              </a:rPr>
              <a:t>맞춤 운동 추천</a:t>
            </a:r>
          </a:p>
        </p:txBody>
      </p:sp>
      <p:sp>
        <p:nvSpPr>
          <p:cNvPr id="22" name="TextBox 21"/>
          <p:cNvSpPr txBox="1"/>
          <p:nvPr/>
        </p:nvSpPr>
        <p:spPr>
          <a:xfrm>
            <a:off x="9601200" y="3749039"/>
            <a:ext cx="1874519" cy="914400"/>
          </a:xfrm>
          <a:prstGeom prst="rect">
            <a:avLst/>
          </a:prstGeom>
          <a:noFill/>
        </p:spPr>
        <p:txBody>
          <a:bodyPr wrap="square" anchor="t" lIns="0" rIns="0" tIns="0" bIns="0">
            <a:spAutoFit/>
          </a:bodyPr>
          <a:lstStyle/>
          <a:p>
            <a:pPr algn="l">
              <a:lnSpc>
                <a:spcPct val="130000"/>
              </a:lnSpc>
            </a:pPr>
            <a:r>
              <a:rPr sz="1050" b="0">
                <a:solidFill>
                  <a:srgbClr val="6B5F56"/>
                </a:solidFill>
                <a:latin typeface="Malgun Gothic"/>
              </a:rPr>
              <a:t>섭취·소모 칼로리와 목표 기반 추천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02</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프로젝트 목표</a:t>
            </a:r>
          </a:p>
        </p:txBody>
      </p:sp>
      <p:sp>
        <p:nvSpPr>
          <p:cNvPr id="4" name="Rounded Rectangle 3"/>
          <p:cNvSpPr/>
          <p:nvPr/>
        </p:nvSpPr>
        <p:spPr>
          <a:xfrm>
            <a:off x="548640" y="1097280"/>
            <a:ext cx="2176272" cy="457200"/>
          </a:xfrm>
          <a:prstGeom prst="roundRect">
            <a:avLst>
              <a:gd name="adj" fmla="val 50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7A3C1D"/>
                </a:solidFill>
                <a:latin typeface="Malgun Gothic"/>
              </a:rPr>
              <a:t>사진 기반 MVP 출시</a:t>
            </a:r>
          </a:p>
        </p:txBody>
      </p:sp>
      <p:sp>
        <p:nvSpPr>
          <p:cNvPr id="5" name="TextBox 4"/>
          <p:cNvSpPr txBox="1"/>
          <p:nvPr/>
        </p:nvSpPr>
        <p:spPr>
          <a:xfrm>
            <a:off x="2770632" y="1170432"/>
            <a:ext cx="457200" cy="320040"/>
          </a:xfrm>
          <a:prstGeom prst="rect">
            <a:avLst/>
          </a:prstGeom>
          <a:noFill/>
        </p:spPr>
        <p:txBody>
          <a:bodyPr wrap="square" anchor="t" lIns="0" rIns="0" tIns="0" bIns="0">
            <a:spAutoFit/>
          </a:bodyPr>
          <a:lstStyle/>
          <a:p>
            <a:pPr algn="l">
              <a:lnSpc>
                <a:spcPct val="100000"/>
              </a:lnSpc>
            </a:pPr>
            <a:r>
              <a:rPr sz="1600" b="1">
                <a:solidFill>
                  <a:srgbClr val="948B83"/>
                </a:solidFill>
                <a:latin typeface="Malgun Gothic"/>
              </a:rPr>
              <a:t>→</a:t>
            </a:r>
          </a:p>
        </p:txBody>
      </p:sp>
      <p:sp>
        <p:nvSpPr>
          <p:cNvPr id="6" name="Rounded Rectangle 5"/>
          <p:cNvSpPr/>
          <p:nvPr/>
        </p:nvSpPr>
        <p:spPr>
          <a:xfrm>
            <a:off x="3227832" y="1097280"/>
            <a:ext cx="2304288" cy="457200"/>
          </a:xfrm>
          <a:prstGeom prst="roundRect">
            <a:avLst>
              <a:gd name="adj" fmla="val 50000"/>
            </a:avLst>
          </a:prstGeom>
          <a:solidFill>
            <a:srgbClr val="FBF7F2"/>
          </a:solidFill>
          <a:ln w="9525">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6B5F56"/>
                </a:solidFill>
                <a:latin typeface="Malgun Gothic"/>
              </a:rPr>
              <a:t>목표 대비 칼로리 밸런스</a:t>
            </a:r>
          </a:p>
        </p:txBody>
      </p:sp>
      <p:sp>
        <p:nvSpPr>
          <p:cNvPr id="7" name="TextBox 6"/>
          <p:cNvSpPr txBox="1"/>
          <p:nvPr/>
        </p:nvSpPr>
        <p:spPr>
          <a:xfrm>
            <a:off x="5577840" y="1170432"/>
            <a:ext cx="457200" cy="320040"/>
          </a:xfrm>
          <a:prstGeom prst="rect">
            <a:avLst/>
          </a:prstGeom>
          <a:noFill/>
        </p:spPr>
        <p:txBody>
          <a:bodyPr wrap="square" anchor="t" lIns="0" rIns="0" tIns="0" bIns="0">
            <a:spAutoFit/>
          </a:bodyPr>
          <a:lstStyle/>
          <a:p>
            <a:pPr algn="l">
              <a:lnSpc>
                <a:spcPct val="100000"/>
              </a:lnSpc>
            </a:pPr>
            <a:r>
              <a:rPr sz="1600" b="1">
                <a:solidFill>
                  <a:srgbClr val="948B83"/>
                </a:solidFill>
                <a:latin typeface="Malgun Gothic"/>
              </a:rPr>
              <a:t>→</a:t>
            </a:r>
          </a:p>
        </p:txBody>
      </p:sp>
      <p:sp>
        <p:nvSpPr>
          <p:cNvPr id="8" name="Rounded Rectangle 7"/>
          <p:cNvSpPr/>
          <p:nvPr/>
        </p:nvSpPr>
        <p:spPr>
          <a:xfrm>
            <a:off x="6035040" y="1097280"/>
            <a:ext cx="1536192" cy="457200"/>
          </a:xfrm>
          <a:prstGeom prst="roundRect">
            <a:avLst>
              <a:gd name="adj" fmla="val 50000"/>
            </a:avLst>
          </a:prstGeom>
          <a:solidFill>
            <a:srgbClr val="DF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F5E4E"/>
                </a:solidFill>
                <a:latin typeface="Malgun Gothic"/>
              </a:rPr>
              <a:t>재방문율 확보</a:t>
            </a:r>
          </a:p>
        </p:txBody>
      </p:sp>
      <p:sp>
        <p:nvSpPr>
          <p:cNvPr id="9" name="Rounded Rectangle 8"/>
          <p:cNvSpPr/>
          <p:nvPr/>
        </p:nvSpPr>
        <p:spPr>
          <a:xfrm>
            <a:off x="548640" y="1965960"/>
            <a:ext cx="5349240" cy="42062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86000"/>
            <a:ext cx="3657600" cy="365760"/>
          </a:xfrm>
          <a:prstGeom prst="rect">
            <a:avLst/>
          </a:prstGeom>
          <a:noFill/>
        </p:spPr>
        <p:txBody>
          <a:bodyPr wrap="square" anchor="t" lIns="0" rIns="0" tIns="0" bIns="0">
            <a:spAutoFit/>
          </a:bodyPr>
          <a:lstStyle/>
          <a:p>
            <a:pPr algn="l">
              <a:lnSpc>
                <a:spcPct val="100000"/>
              </a:lnSpc>
            </a:pPr>
            <a:r>
              <a:rPr sz="1700" b="1">
                <a:solidFill>
                  <a:srgbClr val="2B211B"/>
                </a:solidFill>
                <a:latin typeface="Malgun Gothic"/>
              </a:rPr>
              <a:t>단기 목표</a:t>
            </a:r>
          </a:p>
        </p:txBody>
      </p:sp>
      <p:sp>
        <p:nvSpPr>
          <p:cNvPr id="11" name="TextBox 10"/>
          <p:cNvSpPr txBox="1"/>
          <p:nvPr/>
        </p:nvSpPr>
        <p:spPr>
          <a:xfrm>
            <a:off x="914400" y="2834639"/>
            <a:ext cx="4663440" cy="822960"/>
          </a:xfrm>
          <a:prstGeom prst="rect">
            <a:avLst/>
          </a:prstGeom>
          <a:noFill/>
        </p:spPr>
        <p:txBody>
          <a:bodyPr wrap="square" anchor="t" lIns="0" rIns="0" tIns="0" bIns="0">
            <a:spAutoFit/>
          </a:bodyPr>
          <a:lstStyle/>
          <a:p>
            <a:pPr algn="l">
              <a:lnSpc>
                <a:spcPct val="140000"/>
              </a:lnSpc>
            </a:pPr>
            <a:r>
              <a:rPr sz="1350" b="0">
                <a:solidFill>
                  <a:srgbClr val="2B211B"/>
                </a:solidFill>
                <a:latin typeface="Malgun Gothic"/>
              </a:rPr>
              <a:t>사진 기반 식사 기록 MVP 출시</a:t>
            </a:r>
          </a:p>
          <a:p>
            <a:pPr algn="l">
              <a:lnSpc>
                <a:spcPct val="140000"/>
              </a:lnSpc>
            </a:pPr>
            <a:r>
              <a:rPr sz="1350" b="0">
                <a:solidFill>
                  <a:srgbClr val="2B211B"/>
                </a:solidFill>
                <a:latin typeface="Malgun Gothic"/>
              </a:rPr>
              <a:t>(핵심 기능 1~2)</a:t>
            </a:r>
          </a:p>
        </p:txBody>
      </p:sp>
      <p:sp>
        <p:nvSpPr>
          <p:cNvPr id="12" name="Rounded Rectangle 11"/>
          <p:cNvSpPr/>
          <p:nvPr/>
        </p:nvSpPr>
        <p:spPr>
          <a:xfrm>
            <a:off x="914400" y="3931920"/>
            <a:ext cx="4617720" cy="640080"/>
          </a:xfrm>
          <a:prstGeom prst="roundRect">
            <a:avLst>
              <a:gd name="adj" fmla="val 15000"/>
            </a:avLst>
          </a:prstGeom>
          <a:solidFill>
            <a:srgbClr val="FFFFFF"/>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931920"/>
            <a:ext cx="2743200" cy="640080"/>
          </a:xfrm>
          <a:prstGeom prst="rect">
            <a:avLst/>
          </a:prstGeom>
          <a:noFill/>
        </p:spPr>
        <p:txBody>
          <a:bodyPr wrap="square" anchor="ctr" lIns="0" rIns="0" tIns="0" bIns="0">
            <a:spAutoFit/>
          </a:bodyPr>
          <a:lstStyle/>
          <a:p>
            <a:pPr algn="l">
              <a:lnSpc>
                <a:spcPct val="100000"/>
              </a:lnSpc>
            </a:pPr>
            <a:r>
              <a:rPr sz="1100" b="0">
                <a:solidFill>
                  <a:srgbClr val="6B5F56"/>
                </a:solidFill>
                <a:latin typeface="Malgun Gothic"/>
              </a:rPr>
              <a:t>한 끼 기록 소요 시간</a:t>
            </a:r>
          </a:p>
        </p:txBody>
      </p:sp>
      <p:sp>
        <p:nvSpPr>
          <p:cNvPr id="14" name="TextBox 13"/>
          <p:cNvSpPr txBox="1"/>
          <p:nvPr/>
        </p:nvSpPr>
        <p:spPr>
          <a:xfrm>
            <a:off x="3931920" y="3931920"/>
            <a:ext cx="1463040" cy="640080"/>
          </a:xfrm>
          <a:prstGeom prst="rect">
            <a:avLst/>
          </a:prstGeom>
          <a:noFill/>
        </p:spPr>
        <p:txBody>
          <a:bodyPr wrap="square" anchor="ctr" lIns="0" rIns="0" tIns="0" bIns="0">
            <a:spAutoFit/>
          </a:bodyPr>
          <a:lstStyle/>
          <a:p>
            <a:pPr algn="r">
              <a:lnSpc>
                <a:spcPct val="100000"/>
              </a:lnSpc>
            </a:pPr>
            <a:r>
              <a:rPr sz="1500" b="1">
                <a:solidFill>
                  <a:srgbClr val="7A3C1D"/>
                </a:solidFill>
                <a:latin typeface="Malgun Gothic"/>
              </a:rPr>
              <a:t>15초 이내</a:t>
            </a:r>
          </a:p>
        </p:txBody>
      </p:sp>
      <p:sp>
        <p:nvSpPr>
          <p:cNvPr id="15" name="Rounded Rectangle 14"/>
          <p:cNvSpPr/>
          <p:nvPr/>
        </p:nvSpPr>
        <p:spPr>
          <a:xfrm>
            <a:off x="914400" y="4709159"/>
            <a:ext cx="4617720" cy="640080"/>
          </a:xfrm>
          <a:prstGeom prst="roundRect">
            <a:avLst>
              <a:gd name="adj" fmla="val 15000"/>
            </a:avLst>
          </a:prstGeom>
          <a:solidFill>
            <a:srgbClr val="FFFFFF"/>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709159"/>
            <a:ext cx="2743200" cy="640080"/>
          </a:xfrm>
          <a:prstGeom prst="rect">
            <a:avLst/>
          </a:prstGeom>
          <a:noFill/>
        </p:spPr>
        <p:txBody>
          <a:bodyPr wrap="square" anchor="ctr" lIns="0" rIns="0" tIns="0" bIns="0">
            <a:spAutoFit/>
          </a:bodyPr>
          <a:lstStyle/>
          <a:p>
            <a:pPr algn="l">
              <a:lnSpc>
                <a:spcPct val="100000"/>
              </a:lnSpc>
            </a:pPr>
            <a:r>
              <a:rPr sz="1100" b="0">
                <a:solidFill>
                  <a:srgbClr val="6B5F56"/>
                </a:solidFill>
                <a:latin typeface="Malgun Gothic"/>
              </a:rPr>
              <a:t>음식 인식 상위1 정답률</a:t>
            </a:r>
          </a:p>
        </p:txBody>
      </p:sp>
      <p:sp>
        <p:nvSpPr>
          <p:cNvPr id="17" name="TextBox 16"/>
          <p:cNvSpPr txBox="1"/>
          <p:nvPr/>
        </p:nvSpPr>
        <p:spPr>
          <a:xfrm>
            <a:off x="3931920" y="4709159"/>
            <a:ext cx="1463040" cy="640080"/>
          </a:xfrm>
          <a:prstGeom prst="rect">
            <a:avLst/>
          </a:prstGeom>
          <a:noFill/>
        </p:spPr>
        <p:txBody>
          <a:bodyPr wrap="square" anchor="ctr" lIns="0" rIns="0" tIns="0" bIns="0">
            <a:spAutoFit/>
          </a:bodyPr>
          <a:lstStyle/>
          <a:p>
            <a:pPr algn="r">
              <a:lnSpc>
                <a:spcPct val="100000"/>
              </a:lnSpc>
            </a:pPr>
            <a:r>
              <a:rPr sz="1500" b="1">
                <a:solidFill>
                  <a:srgbClr val="7A3C1D"/>
                </a:solidFill>
                <a:latin typeface="Malgun Gothic"/>
              </a:rPr>
              <a:t>80% 이상</a:t>
            </a:r>
          </a:p>
        </p:txBody>
      </p:sp>
      <p:sp>
        <p:nvSpPr>
          <p:cNvPr id="18" name="Rounded Rectangle 17"/>
          <p:cNvSpPr/>
          <p:nvPr/>
        </p:nvSpPr>
        <p:spPr>
          <a:xfrm>
            <a:off x="6309360" y="1965960"/>
            <a:ext cx="5349240" cy="42062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2286000"/>
            <a:ext cx="3657600" cy="365760"/>
          </a:xfrm>
          <a:prstGeom prst="rect">
            <a:avLst/>
          </a:prstGeom>
          <a:noFill/>
        </p:spPr>
        <p:txBody>
          <a:bodyPr wrap="square" anchor="t" lIns="0" rIns="0" tIns="0" bIns="0">
            <a:spAutoFit/>
          </a:bodyPr>
          <a:lstStyle/>
          <a:p>
            <a:pPr algn="l">
              <a:lnSpc>
                <a:spcPct val="100000"/>
              </a:lnSpc>
            </a:pPr>
            <a:r>
              <a:rPr sz="1700" b="1">
                <a:solidFill>
                  <a:srgbClr val="2B211B"/>
                </a:solidFill>
                <a:latin typeface="Malgun Gothic"/>
              </a:rPr>
              <a:t>중기 목표</a:t>
            </a:r>
          </a:p>
        </p:txBody>
      </p:sp>
      <p:sp>
        <p:nvSpPr>
          <p:cNvPr id="20" name="TextBox 19"/>
          <p:cNvSpPr txBox="1"/>
          <p:nvPr/>
        </p:nvSpPr>
        <p:spPr>
          <a:xfrm>
            <a:off x="6675120" y="2834639"/>
            <a:ext cx="4663440" cy="822960"/>
          </a:xfrm>
          <a:prstGeom prst="rect">
            <a:avLst/>
          </a:prstGeom>
          <a:noFill/>
        </p:spPr>
        <p:txBody>
          <a:bodyPr wrap="square" anchor="t" lIns="0" rIns="0" tIns="0" bIns="0">
            <a:spAutoFit/>
          </a:bodyPr>
          <a:lstStyle/>
          <a:p>
            <a:pPr algn="l">
              <a:lnSpc>
                <a:spcPct val="140000"/>
              </a:lnSpc>
            </a:pPr>
            <a:r>
              <a:rPr sz="1350" b="0">
                <a:solidFill>
                  <a:srgbClr val="2B211B"/>
                </a:solidFill>
                <a:latin typeface="Malgun Gothic"/>
              </a:rPr>
              <a:t>체중 목표 추적 + 운동 추천까지 포함한</a:t>
            </a:r>
          </a:p>
          <a:p>
            <a:pPr algn="l">
              <a:lnSpc>
                <a:spcPct val="140000"/>
              </a:lnSpc>
            </a:pPr>
            <a:r>
              <a:rPr sz="1350" b="0">
                <a:solidFill>
                  <a:srgbClr val="2B211B"/>
                </a:solidFill>
                <a:latin typeface="Malgun Gothic"/>
              </a:rPr>
              <a:t>풀 사이클 제공, 재방문율 확보</a:t>
            </a:r>
          </a:p>
        </p:txBody>
      </p:sp>
      <p:sp>
        <p:nvSpPr>
          <p:cNvPr id="21" name="Rounded Rectangle 20"/>
          <p:cNvSpPr/>
          <p:nvPr/>
        </p:nvSpPr>
        <p:spPr>
          <a:xfrm>
            <a:off x="6675120" y="3931920"/>
            <a:ext cx="4617720" cy="640080"/>
          </a:xfrm>
          <a:prstGeom prst="roundRect">
            <a:avLst>
              <a:gd name="adj" fmla="val 15000"/>
            </a:avLst>
          </a:prstGeom>
          <a:solidFill>
            <a:srgbClr val="FFFFFF"/>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931920"/>
            <a:ext cx="2743200" cy="640080"/>
          </a:xfrm>
          <a:prstGeom prst="rect">
            <a:avLst/>
          </a:prstGeom>
          <a:noFill/>
        </p:spPr>
        <p:txBody>
          <a:bodyPr wrap="square" anchor="ctr" lIns="0" rIns="0" tIns="0" bIns="0">
            <a:spAutoFit/>
          </a:bodyPr>
          <a:lstStyle/>
          <a:p>
            <a:pPr algn="l">
              <a:lnSpc>
                <a:spcPct val="100000"/>
              </a:lnSpc>
            </a:pPr>
            <a:r>
              <a:rPr sz="1100" b="0">
                <a:solidFill>
                  <a:srgbClr val="6B5F56"/>
                </a:solidFill>
                <a:latin typeface="Malgun Gothic"/>
              </a:rPr>
              <a:t>칼로리 밸런스 대시보드</a:t>
            </a:r>
          </a:p>
        </p:txBody>
      </p:sp>
      <p:sp>
        <p:nvSpPr>
          <p:cNvPr id="23" name="TextBox 22"/>
          <p:cNvSpPr txBox="1"/>
          <p:nvPr/>
        </p:nvSpPr>
        <p:spPr>
          <a:xfrm>
            <a:off x="9601200" y="3931920"/>
            <a:ext cx="1371600" cy="640080"/>
          </a:xfrm>
          <a:prstGeom prst="rect">
            <a:avLst/>
          </a:prstGeom>
          <a:noFill/>
        </p:spPr>
        <p:txBody>
          <a:bodyPr wrap="square" anchor="ctr" lIns="0" rIns="0" tIns="0" bIns="0">
            <a:spAutoFit/>
          </a:bodyPr>
          <a:lstStyle/>
          <a:p>
            <a:pPr algn="r">
              <a:lnSpc>
                <a:spcPct val="100000"/>
              </a:lnSpc>
            </a:pPr>
            <a:r>
              <a:rPr sz="1500" b="1">
                <a:solidFill>
                  <a:srgbClr val="1F5E4E"/>
                </a:solidFill>
                <a:latin typeface="Malgun Gothic"/>
              </a:rPr>
              <a:t>사용률</a:t>
            </a:r>
          </a:p>
        </p:txBody>
      </p:sp>
      <p:sp>
        <p:nvSpPr>
          <p:cNvPr id="24" name="Rounded Rectangle 23"/>
          <p:cNvSpPr/>
          <p:nvPr/>
        </p:nvSpPr>
        <p:spPr>
          <a:xfrm>
            <a:off x="6675120" y="4709159"/>
            <a:ext cx="4617720" cy="640080"/>
          </a:xfrm>
          <a:prstGeom prst="roundRect">
            <a:avLst>
              <a:gd name="adj" fmla="val 15000"/>
            </a:avLst>
          </a:prstGeom>
          <a:solidFill>
            <a:srgbClr val="FFFFFF"/>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4709159"/>
            <a:ext cx="2743200" cy="640080"/>
          </a:xfrm>
          <a:prstGeom prst="rect">
            <a:avLst/>
          </a:prstGeom>
          <a:noFill/>
        </p:spPr>
        <p:txBody>
          <a:bodyPr wrap="square" anchor="ctr" lIns="0" rIns="0" tIns="0" bIns="0">
            <a:spAutoFit/>
          </a:bodyPr>
          <a:lstStyle/>
          <a:p>
            <a:pPr algn="l">
              <a:lnSpc>
                <a:spcPct val="100000"/>
              </a:lnSpc>
            </a:pPr>
            <a:r>
              <a:rPr sz="1100" b="0">
                <a:solidFill>
                  <a:srgbClr val="6B5F56"/>
                </a:solidFill>
                <a:latin typeface="Malgun Gothic"/>
              </a:rPr>
              <a:t>재방문 지표</a:t>
            </a:r>
          </a:p>
        </p:txBody>
      </p:sp>
      <p:sp>
        <p:nvSpPr>
          <p:cNvPr id="26" name="TextBox 25"/>
          <p:cNvSpPr txBox="1"/>
          <p:nvPr/>
        </p:nvSpPr>
        <p:spPr>
          <a:xfrm>
            <a:off x="9144000" y="4709159"/>
            <a:ext cx="1828800" cy="640080"/>
          </a:xfrm>
          <a:prstGeom prst="rect">
            <a:avLst/>
          </a:prstGeom>
          <a:noFill/>
        </p:spPr>
        <p:txBody>
          <a:bodyPr wrap="square" anchor="ctr" lIns="0" rIns="0" tIns="0" bIns="0">
            <a:spAutoFit/>
          </a:bodyPr>
          <a:lstStyle/>
          <a:p>
            <a:pPr algn="r">
              <a:lnSpc>
                <a:spcPct val="100000"/>
              </a:lnSpc>
            </a:pPr>
            <a:r>
              <a:rPr sz="1350" b="1">
                <a:solidFill>
                  <a:srgbClr val="1F5E4E"/>
                </a:solidFill>
                <a:latin typeface="Malgun Gothic"/>
              </a:rPr>
              <a:t>7일/30일 리텐션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03</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프로젝트 범위</a:t>
            </a:r>
          </a:p>
        </p:txBody>
      </p:sp>
      <p:sp>
        <p:nvSpPr>
          <p:cNvPr id="4" name="Rounded Rectangle 3"/>
          <p:cNvSpPr/>
          <p:nvPr/>
        </p:nvSpPr>
        <p:spPr>
          <a:xfrm>
            <a:off x="548640" y="1051560"/>
            <a:ext cx="5440680" cy="5212080"/>
          </a:xfrm>
          <a:prstGeom prst="roundRect">
            <a:avLst>
              <a:gd name="adj" fmla="val 8000"/>
            </a:avLst>
          </a:prstGeom>
          <a:solidFill>
            <a:srgbClr val="DF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4572000" cy="365760"/>
          </a:xfrm>
          <a:prstGeom prst="rect">
            <a:avLst/>
          </a:prstGeom>
          <a:noFill/>
        </p:spPr>
        <p:txBody>
          <a:bodyPr wrap="square" anchor="t" lIns="0" rIns="0" tIns="0" bIns="0">
            <a:spAutoFit/>
          </a:bodyPr>
          <a:lstStyle/>
          <a:p>
            <a:pPr algn="l">
              <a:lnSpc>
                <a:spcPct val="100000"/>
              </a:lnSpc>
            </a:pPr>
            <a:r>
              <a:rPr sz="1600" b="1">
                <a:solidFill>
                  <a:srgbClr val="1F5E4E"/>
                </a:solidFill>
                <a:latin typeface="Malgun Gothic"/>
              </a:rPr>
              <a:t>✓  범위 내 (In Scope)</a:t>
            </a:r>
          </a:p>
        </p:txBody>
      </p:sp>
      <p:sp>
        <p:nvSpPr>
          <p:cNvPr id="6" name="Rounded Rectangle 5"/>
          <p:cNvSpPr/>
          <p:nvPr/>
        </p:nvSpPr>
        <p:spPr>
          <a:xfrm>
            <a:off x="868680" y="1783080"/>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783080"/>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8" name="TextBox 7"/>
          <p:cNvSpPr txBox="1"/>
          <p:nvPr/>
        </p:nvSpPr>
        <p:spPr>
          <a:xfrm>
            <a:off x="1325880" y="1819656"/>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사진 기반 식사 인식 (카메라 촬영 → LLM 비전 API → 음식/칼로리/영양성분 추정)</a:t>
            </a:r>
          </a:p>
        </p:txBody>
      </p:sp>
      <p:sp>
        <p:nvSpPr>
          <p:cNvPr id="9" name="Rounded Rectangle 8"/>
          <p:cNvSpPr/>
          <p:nvPr/>
        </p:nvSpPr>
        <p:spPr>
          <a:xfrm>
            <a:off x="868680" y="2423160"/>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423160"/>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11" name="TextBox 10"/>
          <p:cNvSpPr txBox="1"/>
          <p:nvPr/>
        </p:nvSpPr>
        <p:spPr>
          <a:xfrm>
            <a:off x="1325880" y="2459736"/>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사람 언어 기반 배식량 보정 UI (1그릇/1접시/1인분 등)</a:t>
            </a:r>
          </a:p>
        </p:txBody>
      </p:sp>
      <p:sp>
        <p:nvSpPr>
          <p:cNvPr id="12" name="Rounded Rectangle 11"/>
          <p:cNvSpPr/>
          <p:nvPr/>
        </p:nvSpPr>
        <p:spPr>
          <a:xfrm>
            <a:off x="868680" y="3063239"/>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3063239"/>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14" name="TextBox 13"/>
          <p:cNvSpPr txBox="1"/>
          <p:nvPr/>
        </p:nvSpPr>
        <p:spPr>
          <a:xfrm>
            <a:off x="1325880" y="3099815"/>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체중 목표 설정 및 추적 (증량/감량/유지, 칼로리 밸런스·체중 추이 시각화)</a:t>
            </a:r>
          </a:p>
        </p:txBody>
      </p:sp>
      <p:sp>
        <p:nvSpPr>
          <p:cNvPr id="15" name="Rounded Rectangle 14"/>
          <p:cNvSpPr/>
          <p:nvPr/>
        </p:nvSpPr>
        <p:spPr>
          <a:xfrm>
            <a:off x="868680" y="3703320"/>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1" y="3703320"/>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17" name="TextBox 16"/>
          <p:cNvSpPr txBox="1"/>
          <p:nvPr/>
        </p:nvSpPr>
        <p:spPr>
          <a:xfrm>
            <a:off x="1325880" y="3739896"/>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맞춤 운동 추천 (섭취/소모 칼로리와 목표 기반)</a:t>
            </a:r>
          </a:p>
        </p:txBody>
      </p:sp>
      <p:sp>
        <p:nvSpPr>
          <p:cNvPr id="18" name="Rounded Rectangle 17"/>
          <p:cNvSpPr/>
          <p:nvPr/>
        </p:nvSpPr>
        <p:spPr>
          <a:xfrm>
            <a:off x="868680" y="4343400"/>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4343400"/>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20" name="TextBox 19"/>
          <p:cNvSpPr txBox="1"/>
          <p:nvPr/>
        </p:nvSpPr>
        <p:spPr>
          <a:xfrm>
            <a:off x="1325880" y="4379976"/>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기록 히스토리 및 일/주 단위 대시보드</a:t>
            </a:r>
          </a:p>
        </p:txBody>
      </p:sp>
      <p:sp>
        <p:nvSpPr>
          <p:cNvPr id="21" name="Rounded Rectangle 20"/>
          <p:cNvSpPr/>
          <p:nvPr/>
        </p:nvSpPr>
        <p:spPr>
          <a:xfrm>
            <a:off x="868680" y="4983480"/>
            <a:ext cx="480060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4983480"/>
            <a:ext cx="320040" cy="502920"/>
          </a:xfrm>
          <a:prstGeom prst="rect">
            <a:avLst/>
          </a:prstGeom>
          <a:noFill/>
        </p:spPr>
        <p:txBody>
          <a:bodyPr wrap="square" anchor="ctr" lIns="0" rIns="0" tIns="0" bIns="0">
            <a:spAutoFit/>
          </a:bodyPr>
          <a:lstStyle/>
          <a:p>
            <a:pPr algn="l">
              <a:lnSpc>
                <a:spcPct val="100000"/>
              </a:lnSpc>
            </a:pPr>
            <a:r>
              <a:rPr sz="1300" b="1">
                <a:solidFill>
                  <a:srgbClr val="1F5E4E"/>
                </a:solidFill>
                <a:latin typeface="Malgun Gothic"/>
              </a:rPr>
              <a:t>✓</a:t>
            </a:r>
          </a:p>
        </p:txBody>
      </p:sp>
      <p:sp>
        <p:nvSpPr>
          <p:cNvPr id="23" name="TextBox 22"/>
          <p:cNvSpPr txBox="1"/>
          <p:nvPr/>
        </p:nvSpPr>
        <p:spPr>
          <a:xfrm>
            <a:off x="1325880" y="5020056"/>
            <a:ext cx="420624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PWA 형태 배포 (모바일 우선 반응형)</a:t>
            </a:r>
          </a:p>
        </p:txBody>
      </p:sp>
      <p:sp>
        <p:nvSpPr>
          <p:cNvPr id="24" name="Rounded Rectangle 23"/>
          <p:cNvSpPr/>
          <p:nvPr/>
        </p:nvSpPr>
        <p:spPr>
          <a:xfrm>
            <a:off x="6263640" y="1051560"/>
            <a:ext cx="5394960" cy="5212080"/>
          </a:xfrm>
          <a:prstGeom prst="roundRect">
            <a:avLst>
              <a:gd name="adj" fmla="val 8000"/>
            </a:avLst>
          </a:prstGeom>
          <a:solidFill>
            <a:srgbClr val="F1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1280160"/>
            <a:ext cx="4572000" cy="365760"/>
          </a:xfrm>
          <a:prstGeom prst="rect">
            <a:avLst/>
          </a:prstGeom>
          <a:noFill/>
        </p:spPr>
        <p:txBody>
          <a:bodyPr wrap="square" anchor="t" lIns="0" rIns="0" tIns="0" bIns="0">
            <a:spAutoFit/>
          </a:bodyPr>
          <a:lstStyle/>
          <a:p>
            <a:pPr algn="l">
              <a:lnSpc>
                <a:spcPct val="100000"/>
              </a:lnSpc>
            </a:pPr>
            <a:r>
              <a:rPr sz="1600" b="1">
                <a:solidFill>
                  <a:srgbClr val="948B83"/>
                </a:solidFill>
                <a:latin typeface="Malgun Gothic"/>
              </a:rPr>
              <a:t>✕  범위 외 (Out of Scope)</a:t>
            </a:r>
          </a:p>
        </p:txBody>
      </p:sp>
      <p:sp>
        <p:nvSpPr>
          <p:cNvPr id="26" name="Rounded Rectangle 25"/>
          <p:cNvSpPr/>
          <p:nvPr/>
        </p:nvSpPr>
        <p:spPr>
          <a:xfrm>
            <a:off x="6583680" y="1783080"/>
            <a:ext cx="475488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48272" y="1783080"/>
            <a:ext cx="320040" cy="502920"/>
          </a:xfrm>
          <a:prstGeom prst="rect">
            <a:avLst/>
          </a:prstGeom>
          <a:noFill/>
        </p:spPr>
        <p:txBody>
          <a:bodyPr wrap="square" anchor="ctr" lIns="0" rIns="0" tIns="0" bIns="0">
            <a:spAutoFit/>
          </a:bodyPr>
          <a:lstStyle/>
          <a:p>
            <a:pPr algn="l">
              <a:lnSpc>
                <a:spcPct val="100000"/>
              </a:lnSpc>
            </a:pPr>
            <a:r>
              <a:rPr sz="1300" b="1">
                <a:solidFill>
                  <a:srgbClr val="948B83"/>
                </a:solidFill>
                <a:latin typeface="Malgun Gothic"/>
              </a:rPr>
              <a:t>✕</a:t>
            </a:r>
          </a:p>
        </p:txBody>
      </p:sp>
      <p:sp>
        <p:nvSpPr>
          <p:cNvPr id="28" name="TextBox 27"/>
          <p:cNvSpPr txBox="1"/>
          <p:nvPr/>
        </p:nvSpPr>
        <p:spPr>
          <a:xfrm>
            <a:off x="7040880" y="1819656"/>
            <a:ext cx="416052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네이티브 iOS/Android 앱 (PWA로 대체)</a:t>
            </a:r>
          </a:p>
        </p:txBody>
      </p:sp>
      <p:sp>
        <p:nvSpPr>
          <p:cNvPr id="29" name="Rounded Rectangle 28"/>
          <p:cNvSpPr/>
          <p:nvPr/>
        </p:nvSpPr>
        <p:spPr>
          <a:xfrm>
            <a:off x="6583680" y="2423160"/>
            <a:ext cx="475488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48272" y="2423160"/>
            <a:ext cx="320040" cy="502920"/>
          </a:xfrm>
          <a:prstGeom prst="rect">
            <a:avLst/>
          </a:prstGeom>
          <a:noFill/>
        </p:spPr>
        <p:txBody>
          <a:bodyPr wrap="square" anchor="ctr" lIns="0" rIns="0" tIns="0" bIns="0">
            <a:spAutoFit/>
          </a:bodyPr>
          <a:lstStyle/>
          <a:p>
            <a:pPr algn="l">
              <a:lnSpc>
                <a:spcPct val="100000"/>
              </a:lnSpc>
            </a:pPr>
            <a:r>
              <a:rPr sz="1300" b="1">
                <a:solidFill>
                  <a:srgbClr val="948B83"/>
                </a:solidFill>
                <a:latin typeface="Malgun Gothic"/>
              </a:rPr>
              <a:t>✕</a:t>
            </a:r>
          </a:p>
        </p:txBody>
      </p:sp>
      <p:sp>
        <p:nvSpPr>
          <p:cNvPr id="31" name="TextBox 30"/>
          <p:cNvSpPr txBox="1"/>
          <p:nvPr/>
        </p:nvSpPr>
        <p:spPr>
          <a:xfrm>
            <a:off x="7040880" y="2459736"/>
            <a:ext cx="416052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웨어러블 기기 연동 (Apple Health, Google Fit 등) — 향후 확장 검토</a:t>
            </a:r>
          </a:p>
        </p:txBody>
      </p:sp>
      <p:sp>
        <p:nvSpPr>
          <p:cNvPr id="32" name="Rounded Rectangle 31"/>
          <p:cNvSpPr/>
          <p:nvPr/>
        </p:nvSpPr>
        <p:spPr>
          <a:xfrm>
            <a:off x="6583680" y="3063239"/>
            <a:ext cx="475488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48272" y="3063239"/>
            <a:ext cx="320040" cy="502920"/>
          </a:xfrm>
          <a:prstGeom prst="rect">
            <a:avLst/>
          </a:prstGeom>
          <a:noFill/>
        </p:spPr>
        <p:txBody>
          <a:bodyPr wrap="square" anchor="ctr" lIns="0" rIns="0" tIns="0" bIns="0">
            <a:spAutoFit/>
          </a:bodyPr>
          <a:lstStyle/>
          <a:p>
            <a:pPr algn="l">
              <a:lnSpc>
                <a:spcPct val="100000"/>
              </a:lnSpc>
            </a:pPr>
            <a:r>
              <a:rPr sz="1300" b="1">
                <a:solidFill>
                  <a:srgbClr val="948B83"/>
                </a:solidFill>
                <a:latin typeface="Malgun Gothic"/>
              </a:rPr>
              <a:t>✕</a:t>
            </a:r>
          </a:p>
        </p:txBody>
      </p:sp>
      <p:sp>
        <p:nvSpPr>
          <p:cNvPr id="34" name="TextBox 33"/>
          <p:cNvSpPr txBox="1"/>
          <p:nvPr/>
        </p:nvSpPr>
        <p:spPr>
          <a:xfrm>
            <a:off x="7040880" y="3099815"/>
            <a:ext cx="416052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소셜 기능 (친구 추가, 랭킹, 커뮤니티)</a:t>
            </a:r>
          </a:p>
        </p:txBody>
      </p:sp>
      <p:sp>
        <p:nvSpPr>
          <p:cNvPr id="35" name="Rounded Rectangle 34"/>
          <p:cNvSpPr/>
          <p:nvPr/>
        </p:nvSpPr>
        <p:spPr>
          <a:xfrm>
            <a:off x="6583680" y="3703320"/>
            <a:ext cx="475488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48272" y="3703320"/>
            <a:ext cx="320040" cy="502920"/>
          </a:xfrm>
          <a:prstGeom prst="rect">
            <a:avLst/>
          </a:prstGeom>
          <a:noFill/>
        </p:spPr>
        <p:txBody>
          <a:bodyPr wrap="square" anchor="ctr" lIns="0" rIns="0" tIns="0" bIns="0">
            <a:spAutoFit/>
          </a:bodyPr>
          <a:lstStyle/>
          <a:p>
            <a:pPr algn="l">
              <a:lnSpc>
                <a:spcPct val="100000"/>
              </a:lnSpc>
            </a:pPr>
            <a:r>
              <a:rPr sz="1300" b="1">
                <a:solidFill>
                  <a:srgbClr val="948B83"/>
                </a:solidFill>
                <a:latin typeface="Malgun Gothic"/>
              </a:rPr>
              <a:t>✕</a:t>
            </a:r>
          </a:p>
        </p:txBody>
      </p:sp>
      <p:sp>
        <p:nvSpPr>
          <p:cNvPr id="37" name="TextBox 36"/>
          <p:cNvSpPr txBox="1"/>
          <p:nvPr/>
        </p:nvSpPr>
        <p:spPr>
          <a:xfrm>
            <a:off x="7040880" y="3739896"/>
            <a:ext cx="416052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영양사/트레이너 등 전문가 매칭·상담 기능</a:t>
            </a:r>
          </a:p>
        </p:txBody>
      </p:sp>
      <p:sp>
        <p:nvSpPr>
          <p:cNvPr id="38" name="Rounded Rectangle 37"/>
          <p:cNvSpPr/>
          <p:nvPr/>
        </p:nvSpPr>
        <p:spPr>
          <a:xfrm>
            <a:off x="6583680" y="4343400"/>
            <a:ext cx="4754880" cy="50292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343400"/>
            <a:ext cx="320040" cy="502920"/>
          </a:xfrm>
          <a:prstGeom prst="rect">
            <a:avLst/>
          </a:prstGeom>
          <a:noFill/>
        </p:spPr>
        <p:txBody>
          <a:bodyPr wrap="square" anchor="ctr" lIns="0" rIns="0" tIns="0" bIns="0">
            <a:spAutoFit/>
          </a:bodyPr>
          <a:lstStyle/>
          <a:p>
            <a:pPr algn="l">
              <a:lnSpc>
                <a:spcPct val="100000"/>
              </a:lnSpc>
            </a:pPr>
            <a:r>
              <a:rPr sz="1300" b="1">
                <a:solidFill>
                  <a:srgbClr val="948B83"/>
                </a:solidFill>
                <a:latin typeface="Malgun Gothic"/>
              </a:rPr>
              <a:t>✕</a:t>
            </a:r>
          </a:p>
        </p:txBody>
      </p:sp>
      <p:sp>
        <p:nvSpPr>
          <p:cNvPr id="40" name="TextBox 39"/>
          <p:cNvSpPr txBox="1"/>
          <p:nvPr/>
        </p:nvSpPr>
        <p:spPr>
          <a:xfrm>
            <a:off x="7040880" y="4379976"/>
            <a:ext cx="4160520" cy="457200"/>
          </a:xfrm>
          <a:prstGeom prst="rect">
            <a:avLst/>
          </a:prstGeom>
          <a:noFill/>
        </p:spPr>
        <p:txBody>
          <a:bodyPr wrap="square" anchor="ctr" lIns="0" rIns="0" tIns="0" bIns="0">
            <a:spAutoFit/>
          </a:bodyPr>
          <a:lstStyle/>
          <a:p>
            <a:pPr algn="l">
              <a:lnSpc>
                <a:spcPct val="105000"/>
              </a:lnSpc>
            </a:pPr>
            <a:r>
              <a:rPr sz="1100" b="0">
                <a:solidFill>
                  <a:srgbClr val="2B211B"/>
                </a:solidFill>
                <a:latin typeface="Malgun Gothic"/>
              </a:rPr>
              <a:t>결제/구독 과금 모델 (가격 정책 미정)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04</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추진 일정</a:t>
            </a:r>
          </a:p>
        </p:txBody>
      </p:sp>
      <p:sp>
        <p:nvSpPr>
          <p:cNvPr id="4" name="TextBox 3"/>
          <p:cNvSpPr txBox="1"/>
          <p:nvPr/>
        </p:nvSpPr>
        <p:spPr>
          <a:xfrm>
            <a:off x="3657600" y="384048"/>
            <a:ext cx="7772400" cy="365760"/>
          </a:xfrm>
          <a:prstGeom prst="rect">
            <a:avLst/>
          </a:prstGeom>
          <a:noFill/>
        </p:spPr>
        <p:txBody>
          <a:bodyPr wrap="square" anchor="t" lIns="0" rIns="0" tIns="0" bIns="0">
            <a:spAutoFit/>
          </a:bodyPr>
          <a:lstStyle/>
          <a:p>
            <a:pPr algn="l">
              <a:lnSpc>
                <a:spcPct val="100000"/>
              </a:lnSpc>
            </a:pPr>
            <a:r>
              <a:rPr sz="1200" b="0">
                <a:solidFill>
                  <a:srgbClr val="6B5F56"/>
                </a:solidFill>
                <a:latin typeface="Malgun Gothic"/>
              </a:rPr>
              <a:t>AP-Framework 5주 표준 사이클 (Document Chaining 17단계)</a:t>
            </a:r>
          </a:p>
        </p:txBody>
      </p:sp>
      <p:cxnSp>
        <p:nvCxnSpPr>
          <p:cNvPr id="5" name="Connector 4"/>
          <p:cNvCxnSpPr/>
          <p:nvPr/>
        </p:nvCxnSpPr>
        <p:spPr>
          <a:xfrm>
            <a:off x="1005840" y="3840480"/>
            <a:ext cx="10149840" cy="0"/>
          </a:xfrm>
          <a:prstGeom prst="line">
            <a:avLst/>
          </a:prstGeom>
          <a:ln w="28575">
            <a:solidFill>
              <a:srgbClr val="E1D9D0"/>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31520" y="3566160"/>
            <a:ext cx="548640" cy="548640"/>
          </a:xfrm>
          <a:prstGeom prst="ellipse">
            <a:avLst/>
          </a:prstGeom>
          <a:solidFill>
            <a:srgbClr val="DFF1EB"/>
          </a:solidFill>
          <a:ln w="25400">
            <a:solidFill>
              <a:srgbClr val="3FA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66160"/>
            <a:ext cx="548640" cy="548640"/>
          </a:xfrm>
          <a:prstGeom prst="rect">
            <a:avLst/>
          </a:prstGeom>
          <a:noFill/>
        </p:spPr>
        <p:txBody>
          <a:bodyPr wrap="square" anchor="ctr" lIns="0" rIns="0" tIns="0" bIns="0">
            <a:spAutoFit/>
          </a:bodyPr>
          <a:lstStyle/>
          <a:p>
            <a:pPr algn="ctr">
              <a:lnSpc>
                <a:spcPct val="100000"/>
              </a:lnSpc>
            </a:pPr>
            <a:r>
              <a:rPr sz="1400" b="1">
                <a:solidFill>
                  <a:srgbClr val="1F5E4E"/>
                </a:solidFill>
                <a:latin typeface="Malgun Gothic"/>
              </a:rPr>
              <a:t>✓</a:t>
            </a:r>
          </a:p>
        </p:txBody>
      </p:sp>
      <p:sp>
        <p:nvSpPr>
          <p:cNvPr id="8" name="TextBox 7"/>
          <p:cNvSpPr txBox="1"/>
          <p:nvPr/>
        </p:nvSpPr>
        <p:spPr>
          <a:xfrm>
            <a:off x="45720" y="2057400"/>
            <a:ext cx="1920240" cy="1417320"/>
          </a:xfrm>
          <a:prstGeom prst="rect">
            <a:avLst/>
          </a:prstGeom>
          <a:noFill/>
        </p:spPr>
        <p:txBody>
          <a:bodyPr wrap="square" anchor="b" lIns="0" rIns="0" tIns="0" bIns="0">
            <a:spAutoFit/>
          </a:bodyPr>
          <a:lstStyle/>
          <a:p>
            <a:pPr algn="ctr">
              <a:lnSpc>
                <a:spcPct val="125000"/>
              </a:lnSpc>
            </a:pPr>
            <a:r>
              <a:rPr sz="950" b="1">
                <a:solidFill>
                  <a:srgbClr val="1F5E4E"/>
                </a:solidFill>
                <a:latin typeface="Malgun Gothic"/>
              </a:rPr>
              <a:t>완료</a:t>
            </a:r>
          </a:p>
          <a:p>
            <a:pPr algn="ctr">
              <a:lnSpc>
                <a:spcPct val="125000"/>
              </a:lnSpc>
            </a:pPr>
            <a:r>
              <a:rPr sz="1300" b="1">
                <a:solidFill>
                  <a:srgbClr val="2B211B"/>
                </a:solidFill>
                <a:latin typeface="Malgun Gothic"/>
              </a:rPr>
              <a:t>초기화 · W1</a:t>
            </a:r>
          </a:p>
          <a:p>
            <a:pPr algn="ctr">
              <a:lnSpc>
                <a:spcPct val="125000"/>
              </a:lnSpc>
            </a:pPr>
            <a:r>
              <a:rPr sz="1000" b="0">
                <a:solidFill>
                  <a:srgbClr val="6B5F56"/>
                </a:solidFill>
                <a:latin typeface="Malgun Gothic"/>
              </a:rPr>
              <a:t>프로젝트 셋업, PRD 작성,
통합자료실 구성</a:t>
            </a:r>
          </a:p>
        </p:txBody>
      </p:sp>
      <p:sp>
        <p:nvSpPr>
          <p:cNvPr id="9" name="TextBox 8"/>
          <p:cNvSpPr txBox="1"/>
          <p:nvPr/>
        </p:nvSpPr>
        <p:spPr>
          <a:xfrm>
            <a:off x="45720" y="4251960"/>
            <a:ext cx="1920240" cy="320040"/>
          </a:xfrm>
          <a:prstGeom prst="rect">
            <a:avLst/>
          </a:prstGeom>
          <a:noFill/>
        </p:spPr>
        <p:txBody>
          <a:bodyPr wrap="square" anchor="t" lIns="0" rIns="0" tIns="0" bIns="0">
            <a:spAutoFit/>
          </a:bodyPr>
          <a:lstStyle/>
          <a:p>
            <a:pPr algn="ctr">
              <a:lnSpc>
                <a:spcPct val="100000"/>
              </a:lnSpc>
            </a:pPr>
            <a:r>
              <a:rPr sz="950" b="0">
                <a:solidFill>
                  <a:srgbClr val="6B5F56"/>
                </a:solidFill>
                <a:latin typeface="Malgun Gothic"/>
              </a:rPr>
              <a:t>PRD.md</a:t>
            </a:r>
          </a:p>
        </p:txBody>
      </p:sp>
      <p:sp>
        <p:nvSpPr>
          <p:cNvPr id="10" name="Oval 9"/>
          <p:cNvSpPr/>
          <p:nvPr/>
        </p:nvSpPr>
        <p:spPr>
          <a:xfrm>
            <a:off x="3268980" y="3566160"/>
            <a:ext cx="548640" cy="548640"/>
          </a:xfrm>
          <a:prstGeom prst="ellipse">
            <a:avLst/>
          </a:prstGeom>
          <a:solidFill>
            <a:srgbClr val="F5DCC8"/>
          </a:solidFill>
          <a:ln w="25400">
            <a:solidFill>
              <a:srgbClr val="D97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8980" y="3566160"/>
            <a:ext cx="548640" cy="548640"/>
          </a:xfrm>
          <a:prstGeom prst="rect">
            <a:avLst/>
          </a:prstGeom>
          <a:noFill/>
        </p:spPr>
        <p:txBody>
          <a:bodyPr wrap="square" anchor="ctr" lIns="0" rIns="0" tIns="0" bIns="0">
            <a:spAutoFit/>
          </a:bodyPr>
          <a:lstStyle/>
          <a:p>
            <a:pPr algn="ctr">
              <a:lnSpc>
                <a:spcPct val="100000"/>
              </a:lnSpc>
            </a:pPr>
            <a:r>
              <a:rPr sz="1400" b="1">
                <a:solidFill>
                  <a:srgbClr val="7A3C1D"/>
                </a:solidFill>
                <a:latin typeface="Malgun Gothic"/>
              </a:rPr>
              <a:t>●</a:t>
            </a:r>
          </a:p>
        </p:txBody>
      </p:sp>
      <p:sp>
        <p:nvSpPr>
          <p:cNvPr id="12" name="TextBox 11"/>
          <p:cNvSpPr txBox="1"/>
          <p:nvPr/>
        </p:nvSpPr>
        <p:spPr>
          <a:xfrm>
            <a:off x="2583180" y="3063239"/>
            <a:ext cx="1920240" cy="320040"/>
          </a:xfrm>
          <a:prstGeom prst="rect">
            <a:avLst/>
          </a:prstGeom>
          <a:noFill/>
        </p:spPr>
        <p:txBody>
          <a:bodyPr wrap="square" anchor="t" lIns="0" rIns="0" tIns="0" bIns="0">
            <a:spAutoFit/>
          </a:bodyPr>
          <a:lstStyle/>
          <a:p>
            <a:pPr algn="ctr">
              <a:lnSpc>
                <a:spcPct val="100000"/>
              </a:lnSpc>
            </a:pPr>
            <a:r>
              <a:rPr sz="950" b="0">
                <a:solidFill>
                  <a:srgbClr val="6B5F56"/>
                </a:solidFill>
                <a:latin typeface="Malgun Gothic"/>
              </a:rPr>
              <a:t>착수보고서.md · WBS.md</a:t>
            </a:r>
          </a:p>
        </p:txBody>
      </p:sp>
      <p:sp>
        <p:nvSpPr>
          <p:cNvPr id="13" name="TextBox 12"/>
          <p:cNvSpPr txBox="1"/>
          <p:nvPr/>
        </p:nvSpPr>
        <p:spPr>
          <a:xfrm>
            <a:off x="2583180" y="4251960"/>
            <a:ext cx="1920240" cy="1417320"/>
          </a:xfrm>
          <a:prstGeom prst="rect">
            <a:avLst/>
          </a:prstGeom>
          <a:noFill/>
        </p:spPr>
        <p:txBody>
          <a:bodyPr wrap="square" anchor="t" lIns="0" rIns="0" tIns="0" bIns="0">
            <a:spAutoFit/>
          </a:bodyPr>
          <a:lstStyle/>
          <a:p>
            <a:pPr algn="ctr">
              <a:lnSpc>
                <a:spcPct val="125000"/>
              </a:lnSpc>
            </a:pPr>
            <a:r>
              <a:rPr sz="950" b="1">
                <a:solidFill>
                  <a:srgbClr val="7A3C1D"/>
                </a:solidFill>
                <a:latin typeface="Malgun Gothic"/>
              </a:rPr>
              <a:t>진행중</a:t>
            </a:r>
          </a:p>
          <a:p>
            <a:pPr algn="ctr">
              <a:lnSpc>
                <a:spcPct val="125000"/>
              </a:lnSpc>
            </a:pPr>
            <a:r>
              <a:rPr sz="1300" b="1">
                <a:solidFill>
                  <a:srgbClr val="2B211B"/>
                </a:solidFill>
                <a:latin typeface="Malgun Gothic"/>
              </a:rPr>
              <a:t>관리 · W2</a:t>
            </a:r>
          </a:p>
          <a:p>
            <a:pPr algn="ctr">
              <a:lnSpc>
                <a:spcPct val="125000"/>
              </a:lnSpc>
            </a:pPr>
            <a:r>
              <a:rPr sz="1000" b="0">
                <a:solidFill>
                  <a:srgbClr val="6B5F56"/>
                </a:solidFill>
                <a:latin typeface="Malgun Gothic"/>
              </a:rPr>
              <a:t>착수보고서, WBS 수립</a:t>
            </a:r>
          </a:p>
        </p:txBody>
      </p:sp>
      <p:sp>
        <p:nvSpPr>
          <p:cNvPr id="14" name="Oval 13"/>
          <p:cNvSpPr/>
          <p:nvPr/>
        </p:nvSpPr>
        <p:spPr>
          <a:xfrm>
            <a:off x="5806440" y="3566160"/>
            <a:ext cx="548640" cy="548640"/>
          </a:xfrm>
          <a:prstGeom prst="ellipse">
            <a:avLst/>
          </a:prstGeom>
          <a:solidFill>
            <a:srgbClr val="FBF7F2"/>
          </a:solidFill>
          <a:ln w="254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2057400"/>
            <a:ext cx="1920240" cy="1417320"/>
          </a:xfrm>
          <a:prstGeom prst="rect">
            <a:avLst/>
          </a:prstGeom>
          <a:noFill/>
        </p:spPr>
        <p:txBody>
          <a:bodyPr wrap="square" anchor="b" lIns="0" rIns="0" tIns="0" bIns="0">
            <a:spAutoFit/>
          </a:bodyPr>
          <a:lstStyle/>
          <a:p>
            <a:pPr algn="ctr">
              <a:lnSpc>
                <a:spcPct val="125000"/>
              </a:lnSpc>
            </a:pPr>
            <a:r>
              <a:rPr sz="950" b="1">
                <a:solidFill>
                  <a:srgbClr val="948B83"/>
                </a:solidFill>
                <a:latin typeface="Malgun Gothic"/>
              </a:rPr>
              <a:t>예정</a:t>
            </a:r>
          </a:p>
          <a:p>
            <a:pPr algn="ctr">
              <a:lnSpc>
                <a:spcPct val="125000"/>
              </a:lnSpc>
            </a:pPr>
            <a:r>
              <a:rPr sz="1300" b="1">
                <a:solidFill>
                  <a:srgbClr val="2B211B"/>
                </a:solidFill>
                <a:latin typeface="Malgun Gothic"/>
              </a:rPr>
              <a:t>기획 · W3</a:t>
            </a:r>
          </a:p>
          <a:p>
            <a:pPr algn="ctr">
              <a:lnSpc>
                <a:spcPct val="125000"/>
              </a:lnSpc>
            </a:pPr>
            <a:r>
              <a:rPr sz="1000" b="0">
                <a:solidFill>
                  <a:srgbClr val="6B5F56"/>
                </a:solidFill>
                <a:latin typeface="Malgun Gothic"/>
              </a:rPr>
              <a:t>마켓리서치 ~ 화면설계서</a:t>
            </a:r>
          </a:p>
        </p:txBody>
      </p:sp>
      <p:sp>
        <p:nvSpPr>
          <p:cNvPr id="16" name="TextBox 15"/>
          <p:cNvSpPr txBox="1"/>
          <p:nvPr/>
        </p:nvSpPr>
        <p:spPr>
          <a:xfrm>
            <a:off x="5120640" y="4251960"/>
            <a:ext cx="1920240" cy="320040"/>
          </a:xfrm>
          <a:prstGeom prst="rect">
            <a:avLst/>
          </a:prstGeom>
          <a:noFill/>
        </p:spPr>
        <p:txBody>
          <a:bodyPr wrap="square" anchor="t" lIns="0" rIns="0" tIns="0" bIns="0">
            <a:spAutoFit/>
          </a:bodyPr>
          <a:lstStyle/>
          <a:p>
            <a:pPr algn="ctr">
              <a:lnSpc>
                <a:spcPct val="100000"/>
              </a:lnSpc>
            </a:pPr>
            <a:r>
              <a:rPr sz="950" b="0">
                <a:solidFill>
                  <a:srgbClr val="6B5F56"/>
                </a:solidFill>
                <a:latin typeface="Malgun Gothic"/>
              </a:rPr>
              <a:t>02.기획문서/ 전체</a:t>
            </a:r>
          </a:p>
        </p:txBody>
      </p:sp>
      <p:sp>
        <p:nvSpPr>
          <p:cNvPr id="17" name="Oval 16"/>
          <p:cNvSpPr/>
          <p:nvPr/>
        </p:nvSpPr>
        <p:spPr>
          <a:xfrm>
            <a:off x="8343899" y="3566160"/>
            <a:ext cx="548640" cy="548640"/>
          </a:xfrm>
          <a:prstGeom prst="ellipse">
            <a:avLst/>
          </a:prstGeom>
          <a:solidFill>
            <a:srgbClr val="FBF7F2"/>
          </a:solidFill>
          <a:ln w="254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58099" y="3063239"/>
            <a:ext cx="1920240" cy="320040"/>
          </a:xfrm>
          <a:prstGeom prst="rect">
            <a:avLst/>
          </a:prstGeom>
          <a:noFill/>
        </p:spPr>
        <p:txBody>
          <a:bodyPr wrap="square" anchor="t" lIns="0" rIns="0" tIns="0" bIns="0">
            <a:spAutoFit/>
          </a:bodyPr>
          <a:lstStyle/>
          <a:p>
            <a:pPr algn="ctr">
              <a:lnSpc>
                <a:spcPct val="100000"/>
              </a:lnSpc>
            </a:pPr>
            <a:r>
              <a:rPr sz="950" b="0">
                <a:solidFill>
                  <a:srgbClr val="6B5F56"/>
                </a:solidFill>
                <a:latin typeface="Malgun Gothic"/>
              </a:rPr>
              <a:t>03.구현문서/ + src/</a:t>
            </a:r>
          </a:p>
        </p:txBody>
      </p:sp>
      <p:sp>
        <p:nvSpPr>
          <p:cNvPr id="19" name="TextBox 18"/>
          <p:cNvSpPr txBox="1"/>
          <p:nvPr/>
        </p:nvSpPr>
        <p:spPr>
          <a:xfrm>
            <a:off x="7658099" y="4251960"/>
            <a:ext cx="1920240" cy="1417320"/>
          </a:xfrm>
          <a:prstGeom prst="rect">
            <a:avLst/>
          </a:prstGeom>
          <a:noFill/>
        </p:spPr>
        <p:txBody>
          <a:bodyPr wrap="square" anchor="t" lIns="0" rIns="0" tIns="0" bIns="0">
            <a:spAutoFit/>
          </a:bodyPr>
          <a:lstStyle/>
          <a:p>
            <a:pPr algn="ctr">
              <a:lnSpc>
                <a:spcPct val="125000"/>
              </a:lnSpc>
            </a:pPr>
            <a:r>
              <a:rPr sz="950" b="1">
                <a:solidFill>
                  <a:srgbClr val="948B83"/>
                </a:solidFill>
                <a:latin typeface="Malgun Gothic"/>
              </a:rPr>
              <a:t>예정</a:t>
            </a:r>
          </a:p>
          <a:p>
            <a:pPr algn="ctr">
              <a:lnSpc>
                <a:spcPct val="125000"/>
              </a:lnSpc>
            </a:pPr>
            <a:r>
              <a:rPr sz="1300" b="1">
                <a:solidFill>
                  <a:srgbClr val="2B211B"/>
                </a:solidFill>
                <a:latin typeface="Malgun Gothic"/>
              </a:rPr>
              <a:t>구현 · W4</a:t>
            </a:r>
          </a:p>
          <a:p>
            <a:pPr algn="ctr">
              <a:lnSpc>
                <a:spcPct val="125000"/>
              </a:lnSpc>
            </a:pPr>
            <a:r>
              <a:rPr sz="1000" b="0">
                <a:solidFill>
                  <a:srgbClr val="6B5F56"/>
                </a:solidFill>
                <a:latin typeface="Malgun Gothic"/>
              </a:rPr>
              <a:t>인프라·시스템·DB·디자인
+ 프론트/백엔드 코드</a:t>
            </a:r>
          </a:p>
        </p:txBody>
      </p:sp>
      <p:sp>
        <p:nvSpPr>
          <p:cNvPr id="20" name="Oval 19"/>
          <p:cNvSpPr/>
          <p:nvPr/>
        </p:nvSpPr>
        <p:spPr>
          <a:xfrm>
            <a:off x="10881359" y="3566160"/>
            <a:ext cx="548640" cy="548640"/>
          </a:xfrm>
          <a:prstGeom prst="ellipse">
            <a:avLst/>
          </a:prstGeom>
          <a:solidFill>
            <a:srgbClr val="FBF7F2"/>
          </a:solidFill>
          <a:ln w="254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5559" y="2057400"/>
            <a:ext cx="1920240" cy="1417320"/>
          </a:xfrm>
          <a:prstGeom prst="rect">
            <a:avLst/>
          </a:prstGeom>
          <a:noFill/>
        </p:spPr>
        <p:txBody>
          <a:bodyPr wrap="square" anchor="b" lIns="0" rIns="0" tIns="0" bIns="0">
            <a:spAutoFit/>
          </a:bodyPr>
          <a:lstStyle/>
          <a:p>
            <a:pPr algn="ctr">
              <a:lnSpc>
                <a:spcPct val="125000"/>
              </a:lnSpc>
            </a:pPr>
            <a:r>
              <a:rPr sz="950" b="1">
                <a:solidFill>
                  <a:srgbClr val="948B83"/>
                </a:solidFill>
                <a:latin typeface="Malgun Gothic"/>
              </a:rPr>
              <a:t>예정</a:t>
            </a:r>
          </a:p>
          <a:p>
            <a:pPr algn="ctr">
              <a:lnSpc>
                <a:spcPct val="125000"/>
              </a:lnSpc>
            </a:pPr>
            <a:r>
              <a:rPr sz="1300" b="1">
                <a:solidFill>
                  <a:srgbClr val="2B211B"/>
                </a:solidFill>
                <a:latin typeface="Malgun Gothic"/>
              </a:rPr>
              <a:t>검수 · W5</a:t>
            </a:r>
          </a:p>
          <a:p>
            <a:pPr algn="ctr">
              <a:lnSpc>
                <a:spcPct val="125000"/>
              </a:lnSpc>
            </a:pPr>
            <a:r>
              <a:rPr sz="1000" b="0">
                <a:solidFill>
                  <a:srgbClr val="6B5F56"/>
                </a:solidFill>
                <a:latin typeface="Malgun Gothic"/>
              </a:rPr>
              <a:t>테스트, CI/CD,
완료보고서</a:t>
            </a:r>
          </a:p>
        </p:txBody>
      </p:sp>
      <p:sp>
        <p:nvSpPr>
          <p:cNvPr id="22" name="TextBox 21"/>
          <p:cNvSpPr txBox="1"/>
          <p:nvPr/>
        </p:nvSpPr>
        <p:spPr>
          <a:xfrm>
            <a:off x="10195559" y="4251960"/>
            <a:ext cx="1920240" cy="320040"/>
          </a:xfrm>
          <a:prstGeom prst="rect">
            <a:avLst/>
          </a:prstGeom>
          <a:noFill/>
        </p:spPr>
        <p:txBody>
          <a:bodyPr wrap="square" anchor="t" lIns="0" rIns="0" tIns="0" bIns="0">
            <a:spAutoFit/>
          </a:bodyPr>
          <a:lstStyle/>
          <a:p>
            <a:pPr algn="ctr">
              <a:lnSpc>
                <a:spcPct val="100000"/>
              </a:lnSpc>
            </a:pPr>
            <a:r>
              <a:rPr sz="950" b="0">
                <a:solidFill>
                  <a:srgbClr val="6B5F56"/>
                </a:solidFill>
                <a:latin typeface="Malgun Gothic"/>
              </a:rPr>
              <a:t>04.검수문서/ + tests/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05</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팀 구성</a:t>
            </a:r>
          </a:p>
        </p:txBody>
      </p:sp>
      <p:sp>
        <p:nvSpPr>
          <p:cNvPr id="4" name="Rounded Rectangle 3"/>
          <p:cNvSpPr/>
          <p:nvPr/>
        </p:nvSpPr>
        <p:spPr>
          <a:xfrm>
            <a:off x="548640" y="1097280"/>
            <a:ext cx="2606040" cy="32918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440180" y="1371600"/>
            <a:ext cx="822960" cy="82296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2606040" cy="822960"/>
          </a:xfrm>
          <a:prstGeom prst="rect">
            <a:avLst/>
          </a:prstGeom>
          <a:noFill/>
        </p:spPr>
        <p:txBody>
          <a:bodyPr wrap="square" anchor="ctr" lIns="0" rIns="0" tIns="0" bIns="0">
            <a:spAutoFit/>
          </a:bodyPr>
          <a:lstStyle/>
          <a:p>
            <a:pPr algn="ctr">
              <a:lnSpc>
                <a:spcPct val="100000"/>
              </a:lnSpc>
            </a:pPr>
            <a:r>
              <a:rPr sz="2200" b="1">
                <a:solidFill>
                  <a:srgbClr val="7A3C1D"/>
                </a:solidFill>
                <a:latin typeface="Malgun Gothic"/>
              </a:rPr>
              <a:t>P</a:t>
            </a:r>
          </a:p>
        </p:txBody>
      </p:sp>
      <p:sp>
        <p:nvSpPr>
          <p:cNvPr id="7" name="TextBox 6"/>
          <p:cNvSpPr txBox="1"/>
          <p:nvPr/>
        </p:nvSpPr>
        <p:spPr>
          <a:xfrm>
            <a:off x="548640" y="2377440"/>
            <a:ext cx="2606040" cy="365760"/>
          </a:xfrm>
          <a:prstGeom prst="rect">
            <a:avLst/>
          </a:prstGeom>
          <a:noFill/>
        </p:spPr>
        <p:txBody>
          <a:bodyPr wrap="square" anchor="t" lIns="0" rIns="0" tIns="0" bIns="0">
            <a:spAutoFit/>
          </a:bodyPr>
          <a:lstStyle/>
          <a:p>
            <a:pPr algn="ctr">
              <a:lnSpc>
                <a:spcPct val="100000"/>
              </a:lnSpc>
            </a:pPr>
            <a:r>
              <a:rPr sz="1500" b="1">
                <a:solidFill>
                  <a:srgbClr val="2B211B"/>
                </a:solidFill>
                <a:latin typeface="Malgun Gothic"/>
              </a:rPr>
              <a:t>PM</a:t>
            </a:r>
          </a:p>
        </p:txBody>
      </p:sp>
      <p:sp>
        <p:nvSpPr>
          <p:cNvPr id="8" name="TextBox 7"/>
          <p:cNvSpPr txBox="1"/>
          <p:nvPr/>
        </p:nvSpPr>
        <p:spPr>
          <a:xfrm>
            <a:off x="548640" y="2743200"/>
            <a:ext cx="2606040" cy="274320"/>
          </a:xfrm>
          <a:prstGeom prst="rect">
            <a:avLst/>
          </a:prstGeom>
          <a:noFill/>
        </p:spPr>
        <p:txBody>
          <a:bodyPr wrap="square" anchor="t" lIns="0" rIns="0" tIns="0" bIns="0">
            <a:spAutoFit/>
          </a:bodyPr>
          <a:lstStyle/>
          <a:p>
            <a:pPr algn="ctr">
              <a:lnSpc>
                <a:spcPct val="100000"/>
              </a:lnSpc>
            </a:pPr>
            <a:r>
              <a:rPr sz="1050" b="0">
                <a:solidFill>
                  <a:srgbClr val="6B5F56"/>
                </a:solidFill>
                <a:latin typeface="Malgun Gothic"/>
              </a:rPr>
              <a:t>인원 미정</a:t>
            </a:r>
          </a:p>
        </p:txBody>
      </p:sp>
      <p:sp>
        <p:nvSpPr>
          <p:cNvPr id="9" name="TextBox 8"/>
          <p:cNvSpPr txBox="1"/>
          <p:nvPr/>
        </p:nvSpPr>
        <p:spPr>
          <a:xfrm>
            <a:off x="731520" y="3246120"/>
            <a:ext cx="2240280" cy="1005840"/>
          </a:xfrm>
          <a:prstGeom prst="rect">
            <a:avLst/>
          </a:prstGeom>
          <a:noFill/>
        </p:spPr>
        <p:txBody>
          <a:bodyPr wrap="square" anchor="t" lIns="0" rIns="0" tIns="0" bIns="0">
            <a:spAutoFit/>
          </a:bodyPr>
          <a:lstStyle/>
          <a:p>
            <a:pPr algn="ctr">
              <a:lnSpc>
                <a:spcPct val="135000"/>
              </a:lnSpc>
            </a:pPr>
            <a:r>
              <a:rPr sz="1050" b="0">
                <a:solidFill>
                  <a:srgbClr val="6B5F56"/>
                </a:solidFill>
                <a:latin typeface="Malgun Gothic"/>
              </a:rPr>
              <a:t>프로젝트 총괄, 산출물 관리,</a:t>
            </a:r>
          </a:p>
          <a:p>
            <a:pPr algn="ctr">
              <a:lnSpc>
                <a:spcPct val="135000"/>
              </a:lnSpc>
            </a:pPr>
            <a:r>
              <a:rPr sz="1050" b="0">
                <a:solidFill>
                  <a:srgbClr val="6B5F56"/>
                </a:solidFill>
                <a:latin typeface="Malgun Gothic"/>
              </a:rPr>
              <a:t>PRD/기획 문서</a:t>
            </a:r>
          </a:p>
        </p:txBody>
      </p:sp>
      <p:sp>
        <p:nvSpPr>
          <p:cNvPr id="10" name="Rounded Rectangle 9"/>
          <p:cNvSpPr/>
          <p:nvPr/>
        </p:nvSpPr>
        <p:spPr>
          <a:xfrm>
            <a:off x="3383280" y="1097280"/>
            <a:ext cx="2606040" cy="32918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74820" y="1371600"/>
            <a:ext cx="822960" cy="82296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371600"/>
            <a:ext cx="2606040" cy="822960"/>
          </a:xfrm>
          <a:prstGeom prst="rect">
            <a:avLst/>
          </a:prstGeom>
          <a:noFill/>
        </p:spPr>
        <p:txBody>
          <a:bodyPr wrap="square" anchor="ctr" lIns="0" rIns="0" tIns="0" bIns="0">
            <a:spAutoFit/>
          </a:bodyPr>
          <a:lstStyle/>
          <a:p>
            <a:pPr algn="ctr">
              <a:lnSpc>
                <a:spcPct val="100000"/>
              </a:lnSpc>
            </a:pPr>
            <a:r>
              <a:rPr sz="2200" b="1">
                <a:solidFill>
                  <a:srgbClr val="7A3C1D"/>
                </a:solidFill>
                <a:latin typeface="Malgun Gothic"/>
              </a:rPr>
              <a:t>기</a:t>
            </a:r>
          </a:p>
        </p:txBody>
      </p:sp>
      <p:sp>
        <p:nvSpPr>
          <p:cNvPr id="13" name="TextBox 12"/>
          <p:cNvSpPr txBox="1"/>
          <p:nvPr/>
        </p:nvSpPr>
        <p:spPr>
          <a:xfrm>
            <a:off x="3383280" y="2377440"/>
            <a:ext cx="2606040" cy="365760"/>
          </a:xfrm>
          <a:prstGeom prst="rect">
            <a:avLst/>
          </a:prstGeom>
          <a:noFill/>
        </p:spPr>
        <p:txBody>
          <a:bodyPr wrap="square" anchor="t" lIns="0" rIns="0" tIns="0" bIns="0">
            <a:spAutoFit/>
          </a:bodyPr>
          <a:lstStyle/>
          <a:p>
            <a:pPr algn="ctr">
              <a:lnSpc>
                <a:spcPct val="100000"/>
              </a:lnSpc>
            </a:pPr>
            <a:r>
              <a:rPr sz="1500" b="1">
                <a:solidFill>
                  <a:srgbClr val="2B211B"/>
                </a:solidFill>
                <a:latin typeface="Malgun Gothic"/>
              </a:rPr>
              <a:t>기획자</a:t>
            </a:r>
          </a:p>
        </p:txBody>
      </p:sp>
      <p:sp>
        <p:nvSpPr>
          <p:cNvPr id="14" name="TextBox 13"/>
          <p:cNvSpPr txBox="1"/>
          <p:nvPr/>
        </p:nvSpPr>
        <p:spPr>
          <a:xfrm>
            <a:off x="3383280" y="2743200"/>
            <a:ext cx="2606040" cy="274320"/>
          </a:xfrm>
          <a:prstGeom prst="rect">
            <a:avLst/>
          </a:prstGeom>
          <a:noFill/>
        </p:spPr>
        <p:txBody>
          <a:bodyPr wrap="square" anchor="t" lIns="0" rIns="0" tIns="0" bIns="0">
            <a:spAutoFit/>
          </a:bodyPr>
          <a:lstStyle/>
          <a:p>
            <a:pPr algn="ctr">
              <a:lnSpc>
                <a:spcPct val="100000"/>
              </a:lnSpc>
            </a:pPr>
            <a:r>
              <a:rPr sz="1050" b="0">
                <a:solidFill>
                  <a:srgbClr val="6B5F56"/>
                </a:solidFill>
                <a:latin typeface="Malgun Gothic"/>
              </a:rPr>
              <a:t>인원 미정</a:t>
            </a:r>
          </a:p>
        </p:txBody>
      </p:sp>
      <p:sp>
        <p:nvSpPr>
          <p:cNvPr id="15" name="TextBox 14"/>
          <p:cNvSpPr txBox="1"/>
          <p:nvPr/>
        </p:nvSpPr>
        <p:spPr>
          <a:xfrm>
            <a:off x="3566160" y="3246120"/>
            <a:ext cx="2240280" cy="1005840"/>
          </a:xfrm>
          <a:prstGeom prst="rect">
            <a:avLst/>
          </a:prstGeom>
          <a:noFill/>
        </p:spPr>
        <p:txBody>
          <a:bodyPr wrap="square" anchor="t" lIns="0" rIns="0" tIns="0" bIns="0">
            <a:spAutoFit/>
          </a:bodyPr>
          <a:lstStyle/>
          <a:p>
            <a:pPr algn="ctr">
              <a:lnSpc>
                <a:spcPct val="135000"/>
              </a:lnSpc>
            </a:pPr>
            <a:r>
              <a:rPr sz="1050" b="0">
                <a:solidFill>
                  <a:srgbClr val="6B5F56"/>
                </a:solidFill>
                <a:latin typeface="Malgun Gothic"/>
              </a:rPr>
              <a:t>서비스기획, 요구사항정의,</a:t>
            </a:r>
          </a:p>
          <a:p>
            <a:pPr algn="ctr">
              <a:lnSpc>
                <a:spcPct val="135000"/>
              </a:lnSpc>
            </a:pPr>
            <a:r>
              <a:rPr sz="1050" b="0">
                <a:solidFill>
                  <a:srgbClr val="6B5F56"/>
                </a:solidFill>
                <a:latin typeface="Malgun Gothic"/>
              </a:rPr>
              <a:t>화면설계</a:t>
            </a:r>
          </a:p>
        </p:txBody>
      </p:sp>
      <p:sp>
        <p:nvSpPr>
          <p:cNvPr id="16" name="Rounded Rectangle 15"/>
          <p:cNvSpPr/>
          <p:nvPr/>
        </p:nvSpPr>
        <p:spPr>
          <a:xfrm>
            <a:off x="6217920" y="1097280"/>
            <a:ext cx="2606040" cy="32918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09459" y="1371600"/>
            <a:ext cx="822960" cy="82296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71600"/>
            <a:ext cx="2606040" cy="822960"/>
          </a:xfrm>
          <a:prstGeom prst="rect">
            <a:avLst/>
          </a:prstGeom>
          <a:noFill/>
        </p:spPr>
        <p:txBody>
          <a:bodyPr wrap="square" anchor="ctr" lIns="0" rIns="0" tIns="0" bIns="0">
            <a:spAutoFit/>
          </a:bodyPr>
          <a:lstStyle/>
          <a:p>
            <a:pPr algn="ctr">
              <a:lnSpc>
                <a:spcPct val="100000"/>
              </a:lnSpc>
            </a:pPr>
            <a:r>
              <a:rPr sz="2200" b="1">
                <a:solidFill>
                  <a:srgbClr val="7A3C1D"/>
                </a:solidFill>
                <a:latin typeface="Malgun Gothic"/>
              </a:rPr>
              <a:t>디</a:t>
            </a:r>
          </a:p>
        </p:txBody>
      </p:sp>
      <p:sp>
        <p:nvSpPr>
          <p:cNvPr id="19" name="TextBox 18"/>
          <p:cNvSpPr txBox="1"/>
          <p:nvPr/>
        </p:nvSpPr>
        <p:spPr>
          <a:xfrm>
            <a:off x="6217920" y="2377440"/>
            <a:ext cx="2606040" cy="365760"/>
          </a:xfrm>
          <a:prstGeom prst="rect">
            <a:avLst/>
          </a:prstGeom>
          <a:noFill/>
        </p:spPr>
        <p:txBody>
          <a:bodyPr wrap="square" anchor="t" lIns="0" rIns="0" tIns="0" bIns="0">
            <a:spAutoFit/>
          </a:bodyPr>
          <a:lstStyle/>
          <a:p>
            <a:pPr algn="ctr">
              <a:lnSpc>
                <a:spcPct val="100000"/>
              </a:lnSpc>
            </a:pPr>
            <a:r>
              <a:rPr sz="1500" b="1">
                <a:solidFill>
                  <a:srgbClr val="2B211B"/>
                </a:solidFill>
                <a:latin typeface="Malgun Gothic"/>
              </a:rPr>
              <a:t>디자이너</a:t>
            </a:r>
          </a:p>
        </p:txBody>
      </p:sp>
      <p:sp>
        <p:nvSpPr>
          <p:cNvPr id="20" name="TextBox 19"/>
          <p:cNvSpPr txBox="1"/>
          <p:nvPr/>
        </p:nvSpPr>
        <p:spPr>
          <a:xfrm>
            <a:off x="6217920" y="2743200"/>
            <a:ext cx="2606040" cy="274320"/>
          </a:xfrm>
          <a:prstGeom prst="rect">
            <a:avLst/>
          </a:prstGeom>
          <a:noFill/>
        </p:spPr>
        <p:txBody>
          <a:bodyPr wrap="square" anchor="t" lIns="0" rIns="0" tIns="0" bIns="0">
            <a:spAutoFit/>
          </a:bodyPr>
          <a:lstStyle/>
          <a:p>
            <a:pPr algn="ctr">
              <a:lnSpc>
                <a:spcPct val="100000"/>
              </a:lnSpc>
            </a:pPr>
            <a:r>
              <a:rPr sz="1050" b="0">
                <a:solidFill>
                  <a:srgbClr val="6B5F56"/>
                </a:solidFill>
                <a:latin typeface="Malgun Gothic"/>
              </a:rPr>
              <a:t>인원 미정</a:t>
            </a:r>
          </a:p>
        </p:txBody>
      </p:sp>
      <p:sp>
        <p:nvSpPr>
          <p:cNvPr id="21" name="TextBox 20"/>
          <p:cNvSpPr txBox="1"/>
          <p:nvPr/>
        </p:nvSpPr>
        <p:spPr>
          <a:xfrm>
            <a:off x="6400800" y="3246120"/>
            <a:ext cx="2240280" cy="1005840"/>
          </a:xfrm>
          <a:prstGeom prst="rect">
            <a:avLst/>
          </a:prstGeom>
          <a:noFill/>
        </p:spPr>
        <p:txBody>
          <a:bodyPr wrap="square" anchor="t" lIns="0" rIns="0" tIns="0" bIns="0">
            <a:spAutoFit/>
          </a:bodyPr>
          <a:lstStyle/>
          <a:p>
            <a:pPr algn="ctr">
              <a:lnSpc>
                <a:spcPct val="135000"/>
              </a:lnSpc>
            </a:pPr>
            <a:r>
              <a:rPr sz="1050" b="0">
                <a:solidFill>
                  <a:srgbClr val="6B5F56"/>
                </a:solidFill>
                <a:latin typeface="Malgun Gothic"/>
              </a:rPr>
              <a:t>UI/UX,</a:t>
            </a:r>
          </a:p>
          <a:p>
            <a:pPr algn="ctr">
              <a:lnSpc>
                <a:spcPct val="135000"/>
              </a:lnSpc>
            </a:pPr>
            <a:r>
              <a:rPr sz="1050" b="0">
                <a:solidFill>
                  <a:srgbClr val="6B5F56"/>
                </a:solidFill>
                <a:latin typeface="Malgun Gothic"/>
              </a:rPr>
              <a:t>디자인 스타일가이드</a:t>
            </a:r>
          </a:p>
        </p:txBody>
      </p:sp>
      <p:sp>
        <p:nvSpPr>
          <p:cNvPr id="22" name="Rounded Rectangle 21"/>
          <p:cNvSpPr/>
          <p:nvPr/>
        </p:nvSpPr>
        <p:spPr>
          <a:xfrm>
            <a:off x="9052560" y="1097280"/>
            <a:ext cx="2606040" cy="3291840"/>
          </a:xfrm>
          <a:prstGeom prst="roundRect">
            <a:avLst>
              <a:gd name="adj" fmla="val 10000"/>
            </a:avLst>
          </a:prstGeom>
          <a:solidFill>
            <a:srgbClr val="FBF7F2"/>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944100" y="1371600"/>
            <a:ext cx="822960" cy="822960"/>
          </a:xfrm>
          <a:prstGeom prst="ellipse">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1371600"/>
            <a:ext cx="2606040" cy="822960"/>
          </a:xfrm>
          <a:prstGeom prst="rect">
            <a:avLst/>
          </a:prstGeom>
          <a:noFill/>
        </p:spPr>
        <p:txBody>
          <a:bodyPr wrap="square" anchor="ctr" lIns="0" rIns="0" tIns="0" bIns="0">
            <a:spAutoFit/>
          </a:bodyPr>
          <a:lstStyle/>
          <a:p>
            <a:pPr algn="ctr">
              <a:lnSpc>
                <a:spcPct val="100000"/>
              </a:lnSpc>
            </a:pPr>
            <a:r>
              <a:rPr sz="2200" b="1">
                <a:solidFill>
                  <a:srgbClr val="7A3C1D"/>
                </a:solidFill>
                <a:latin typeface="Malgun Gothic"/>
              </a:rPr>
              <a:t>개</a:t>
            </a:r>
          </a:p>
        </p:txBody>
      </p:sp>
      <p:sp>
        <p:nvSpPr>
          <p:cNvPr id="25" name="TextBox 24"/>
          <p:cNvSpPr txBox="1"/>
          <p:nvPr/>
        </p:nvSpPr>
        <p:spPr>
          <a:xfrm>
            <a:off x="9052560" y="2377440"/>
            <a:ext cx="2606040" cy="365760"/>
          </a:xfrm>
          <a:prstGeom prst="rect">
            <a:avLst/>
          </a:prstGeom>
          <a:noFill/>
        </p:spPr>
        <p:txBody>
          <a:bodyPr wrap="square" anchor="t" lIns="0" rIns="0" tIns="0" bIns="0">
            <a:spAutoFit/>
          </a:bodyPr>
          <a:lstStyle/>
          <a:p>
            <a:pPr algn="ctr">
              <a:lnSpc>
                <a:spcPct val="100000"/>
              </a:lnSpc>
            </a:pPr>
            <a:r>
              <a:rPr sz="1500" b="1">
                <a:solidFill>
                  <a:srgbClr val="2B211B"/>
                </a:solidFill>
                <a:latin typeface="Malgun Gothic"/>
              </a:rPr>
              <a:t>개발자</a:t>
            </a:r>
          </a:p>
        </p:txBody>
      </p:sp>
      <p:sp>
        <p:nvSpPr>
          <p:cNvPr id="26" name="TextBox 25"/>
          <p:cNvSpPr txBox="1"/>
          <p:nvPr/>
        </p:nvSpPr>
        <p:spPr>
          <a:xfrm>
            <a:off x="9052560" y="2743200"/>
            <a:ext cx="2606040" cy="274320"/>
          </a:xfrm>
          <a:prstGeom prst="rect">
            <a:avLst/>
          </a:prstGeom>
          <a:noFill/>
        </p:spPr>
        <p:txBody>
          <a:bodyPr wrap="square" anchor="t" lIns="0" rIns="0" tIns="0" bIns="0">
            <a:spAutoFit/>
          </a:bodyPr>
          <a:lstStyle/>
          <a:p>
            <a:pPr algn="ctr">
              <a:lnSpc>
                <a:spcPct val="100000"/>
              </a:lnSpc>
            </a:pPr>
            <a:r>
              <a:rPr sz="1050" b="0">
                <a:solidFill>
                  <a:srgbClr val="6B5F56"/>
                </a:solidFill>
                <a:latin typeface="Malgun Gothic"/>
              </a:rPr>
              <a:t>인원 미정</a:t>
            </a:r>
          </a:p>
        </p:txBody>
      </p:sp>
      <p:sp>
        <p:nvSpPr>
          <p:cNvPr id="27" name="TextBox 26"/>
          <p:cNvSpPr txBox="1"/>
          <p:nvPr/>
        </p:nvSpPr>
        <p:spPr>
          <a:xfrm>
            <a:off x="9235440" y="3246120"/>
            <a:ext cx="2240280" cy="1005840"/>
          </a:xfrm>
          <a:prstGeom prst="rect">
            <a:avLst/>
          </a:prstGeom>
          <a:noFill/>
        </p:spPr>
        <p:txBody>
          <a:bodyPr wrap="square" anchor="t" lIns="0" rIns="0" tIns="0" bIns="0">
            <a:spAutoFit/>
          </a:bodyPr>
          <a:lstStyle/>
          <a:p>
            <a:pPr algn="ctr">
              <a:lnSpc>
                <a:spcPct val="135000"/>
              </a:lnSpc>
            </a:pPr>
            <a:r>
              <a:rPr sz="1050" b="0">
                <a:solidFill>
                  <a:srgbClr val="6B5F56"/>
                </a:solidFill>
                <a:latin typeface="Malgun Gothic"/>
              </a:rPr>
              <a:t>프론트엔드(Next.js), 백엔드(Express.js),</a:t>
            </a:r>
          </a:p>
          <a:p>
            <a:pPr algn="ctr">
              <a:lnSpc>
                <a:spcPct val="135000"/>
              </a:lnSpc>
            </a:pPr>
            <a:r>
              <a:rPr sz="1050" b="0">
                <a:solidFill>
                  <a:srgbClr val="6B5F56"/>
                </a:solidFill>
                <a:latin typeface="Malgun Gothic"/>
              </a:rPr>
              <a:t>LLM 비전 API 연동</a:t>
            </a:r>
          </a:p>
        </p:txBody>
      </p:sp>
      <p:sp>
        <p:nvSpPr>
          <p:cNvPr id="28" name="Rounded Rectangle 27"/>
          <p:cNvSpPr/>
          <p:nvPr/>
        </p:nvSpPr>
        <p:spPr>
          <a:xfrm>
            <a:off x="548640" y="4892040"/>
            <a:ext cx="11109960" cy="777240"/>
          </a:xfrm>
          <a:prstGeom prst="roundRect">
            <a:avLst>
              <a:gd name="adj" fmla="val 15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892040"/>
            <a:ext cx="10515600" cy="777240"/>
          </a:xfrm>
          <a:prstGeom prst="rect">
            <a:avLst/>
          </a:prstGeom>
          <a:noFill/>
        </p:spPr>
        <p:txBody>
          <a:bodyPr wrap="square" anchor="ctr" lIns="0" rIns="0" tIns="0" bIns="0">
            <a:spAutoFit/>
          </a:bodyPr>
          <a:lstStyle/>
          <a:p>
            <a:pPr algn="l">
              <a:lnSpc>
                <a:spcPct val="100000"/>
              </a:lnSpc>
            </a:pPr>
            <a:r>
              <a:rPr sz="1200" b="1">
                <a:solidFill>
                  <a:srgbClr val="7A3C1D"/>
                </a:solidFill>
                <a:latin typeface="Malgun Gothic"/>
              </a:rPr>
              <a:t>PRD.md의 "팀 규모" 항목이 아직 미기입 상태입니다. 확정되는 대로 착수보고서와 PRD.md를 함께 업데이트하세요.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06</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리스크 관리</a:t>
            </a:r>
          </a:p>
        </p:txBody>
      </p:sp>
      <p:sp>
        <p:nvSpPr>
          <p:cNvPr id="4" name="Rectangle 3"/>
          <p:cNvSpPr/>
          <p:nvPr/>
        </p:nvSpPr>
        <p:spPr>
          <a:xfrm>
            <a:off x="640080" y="1188720"/>
            <a:ext cx="5120640" cy="4206240"/>
          </a:xfrm>
          <a:prstGeom prst="rect">
            <a:avLst/>
          </a:prstGeom>
          <a:solidFill>
            <a:srgbClr val="FFFFFF"/>
          </a:solidFill>
          <a:ln w="12700">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234440"/>
            <a:ext cx="5029200" cy="2313432"/>
          </a:xfrm>
          <a:prstGeom prst="roundRect">
            <a:avLst>
              <a:gd name="adj" fmla="val 2000"/>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0" y="1298448"/>
            <a:ext cx="1737360" cy="274320"/>
          </a:xfrm>
          <a:prstGeom prst="rect">
            <a:avLst/>
          </a:prstGeom>
          <a:noFill/>
        </p:spPr>
        <p:txBody>
          <a:bodyPr wrap="square" anchor="t" lIns="0" rIns="0" tIns="0" bIns="0">
            <a:spAutoFit/>
          </a:bodyPr>
          <a:lstStyle/>
          <a:p>
            <a:pPr algn="r">
              <a:lnSpc>
                <a:spcPct val="100000"/>
              </a:lnSpc>
            </a:pPr>
            <a:r>
              <a:rPr sz="900" b="1">
                <a:solidFill>
                  <a:srgbClr val="7A3C1D"/>
                </a:solidFill>
                <a:latin typeface="Malgun Gothic"/>
              </a:rPr>
              <a:t>우선 대응 영역</a:t>
            </a:r>
          </a:p>
        </p:txBody>
      </p:sp>
      <p:cxnSp>
        <p:nvCxnSpPr>
          <p:cNvPr id="7" name="Connector 6"/>
          <p:cNvCxnSpPr/>
          <p:nvPr/>
        </p:nvCxnSpPr>
        <p:spPr>
          <a:xfrm>
            <a:off x="2346960" y="1188720"/>
            <a:ext cx="0" cy="4206239"/>
          </a:xfrm>
          <a:prstGeom prst="line">
            <a:avLst/>
          </a:prstGeom>
          <a:ln w="9525">
            <a:solidFill>
              <a:srgbClr val="E1D9D0"/>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40080" y="2590799"/>
            <a:ext cx="5120640" cy="0"/>
          </a:xfrm>
          <a:prstGeom prst="line">
            <a:avLst/>
          </a:prstGeom>
          <a:ln w="9525">
            <a:solidFill>
              <a:srgbClr val="E1D9D0"/>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53839" y="1188720"/>
            <a:ext cx="0" cy="4206239"/>
          </a:xfrm>
          <a:prstGeom prst="line">
            <a:avLst/>
          </a:prstGeom>
          <a:ln w="9525">
            <a:solidFill>
              <a:srgbClr val="E1D9D0"/>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0080" y="3992879"/>
            <a:ext cx="5120640" cy="0"/>
          </a:xfrm>
          <a:prstGeom prst="line">
            <a:avLst/>
          </a:prstGeom>
          <a:ln w="9525">
            <a:solidFill>
              <a:srgbClr val="E1D9D0"/>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5440679"/>
            <a:ext cx="1706879" cy="274320"/>
          </a:xfrm>
          <a:prstGeom prst="rect">
            <a:avLst/>
          </a:prstGeom>
          <a:noFill/>
        </p:spPr>
        <p:txBody>
          <a:bodyPr wrap="square" anchor="t" lIns="0" rIns="0" tIns="0" bIns="0">
            <a:spAutoFit/>
          </a:bodyPr>
          <a:lstStyle/>
          <a:p>
            <a:pPr algn="ctr">
              <a:lnSpc>
                <a:spcPct val="100000"/>
              </a:lnSpc>
            </a:pPr>
            <a:r>
              <a:rPr sz="1000" b="0">
                <a:solidFill>
                  <a:srgbClr val="6B5F56"/>
                </a:solidFill>
                <a:latin typeface="Malgun Gothic"/>
              </a:rPr>
              <a:t>저</a:t>
            </a:r>
          </a:p>
        </p:txBody>
      </p:sp>
      <p:sp>
        <p:nvSpPr>
          <p:cNvPr id="12" name="TextBox 11"/>
          <p:cNvSpPr txBox="1"/>
          <p:nvPr/>
        </p:nvSpPr>
        <p:spPr>
          <a:xfrm>
            <a:off x="2346960" y="5440679"/>
            <a:ext cx="1706879" cy="274320"/>
          </a:xfrm>
          <a:prstGeom prst="rect">
            <a:avLst/>
          </a:prstGeom>
          <a:noFill/>
        </p:spPr>
        <p:txBody>
          <a:bodyPr wrap="square" anchor="t" lIns="0" rIns="0" tIns="0" bIns="0">
            <a:spAutoFit/>
          </a:bodyPr>
          <a:lstStyle/>
          <a:p>
            <a:pPr algn="ctr">
              <a:lnSpc>
                <a:spcPct val="100000"/>
              </a:lnSpc>
            </a:pPr>
            <a:r>
              <a:rPr sz="1000" b="0">
                <a:solidFill>
                  <a:srgbClr val="6B5F56"/>
                </a:solidFill>
                <a:latin typeface="Malgun Gothic"/>
              </a:rPr>
              <a:t>중</a:t>
            </a:r>
          </a:p>
        </p:txBody>
      </p:sp>
      <p:sp>
        <p:nvSpPr>
          <p:cNvPr id="13" name="TextBox 12"/>
          <p:cNvSpPr txBox="1"/>
          <p:nvPr/>
        </p:nvSpPr>
        <p:spPr>
          <a:xfrm>
            <a:off x="4053839" y="5440679"/>
            <a:ext cx="1706879" cy="274320"/>
          </a:xfrm>
          <a:prstGeom prst="rect">
            <a:avLst/>
          </a:prstGeom>
          <a:noFill/>
        </p:spPr>
        <p:txBody>
          <a:bodyPr wrap="square" anchor="t" lIns="0" rIns="0" tIns="0" bIns="0">
            <a:spAutoFit/>
          </a:bodyPr>
          <a:lstStyle/>
          <a:p>
            <a:pPr algn="ctr">
              <a:lnSpc>
                <a:spcPct val="100000"/>
              </a:lnSpc>
            </a:pPr>
            <a:r>
              <a:rPr sz="1000" b="0">
                <a:solidFill>
                  <a:srgbClr val="6B5F56"/>
                </a:solidFill>
                <a:latin typeface="Malgun Gothic"/>
              </a:rPr>
              <a:t>고</a:t>
            </a:r>
          </a:p>
        </p:txBody>
      </p:sp>
      <p:sp>
        <p:nvSpPr>
          <p:cNvPr id="14" name="TextBox 13"/>
          <p:cNvSpPr txBox="1"/>
          <p:nvPr/>
        </p:nvSpPr>
        <p:spPr>
          <a:xfrm>
            <a:off x="274319" y="1188720"/>
            <a:ext cx="320040" cy="1402080"/>
          </a:xfrm>
          <a:prstGeom prst="rect">
            <a:avLst/>
          </a:prstGeom>
          <a:noFill/>
        </p:spPr>
        <p:txBody>
          <a:bodyPr wrap="square" anchor="ctr" lIns="0" rIns="0" tIns="0" bIns="0">
            <a:spAutoFit/>
          </a:bodyPr>
          <a:lstStyle/>
          <a:p>
            <a:pPr algn="ctr">
              <a:lnSpc>
                <a:spcPct val="100000"/>
              </a:lnSpc>
            </a:pPr>
            <a:r>
              <a:rPr sz="1000" b="0">
                <a:solidFill>
                  <a:srgbClr val="6B5F56"/>
                </a:solidFill>
                <a:latin typeface="Malgun Gothic"/>
              </a:rPr>
              <a:t>고</a:t>
            </a:r>
          </a:p>
        </p:txBody>
      </p:sp>
      <p:sp>
        <p:nvSpPr>
          <p:cNvPr id="15" name="TextBox 14"/>
          <p:cNvSpPr txBox="1"/>
          <p:nvPr/>
        </p:nvSpPr>
        <p:spPr>
          <a:xfrm>
            <a:off x="274319" y="2590799"/>
            <a:ext cx="320040" cy="1402080"/>
          </a:xfrm>
          <a:prstGeom prst="rect">
            <a:avLst/>
          </a:prstGeom>
          <a:noFill/>
        </p:spPr>
        <p:txBody>
          <a:bodyPr wrap="square" anchor="ctr" lIns="0" rIns="0" tIns="0" bIns="0">
            <a:spAutoFit/>
          </a:bodyPr>
          <a:lstStyle/>
          <a:p>
            <a:pPr algn="ctr">
              <a:lnSpc>
                <a:spcPct val="100000"/>
              </a:lnSpc>
            </a:pPr>
            <a:r>
              <a:rPr sz="1000" b="0">
                <a:solidFill>
                  <a:srgbClr val="6B5F56"/>
                </a:solidFill>
                <a:latin typeface="Malgun Gothic"/>
              </a:rPr>
              <a:t>중</a:t>
            </a:r>
          </a:p>
        </p:txBody>
      </p:sp>
      <p:sp>
        <p:nvSpPr>
          <p:cNvPr id="16" name="TextBox 15"/>
          <p:cNvSpPr txBox="1"/>
          <p:nvPr/>
        </p:nvSpPr>
        <p:spPr>
          <a:xfrm>
            <a:off x="274319" y="3992879"/>
            <a:ext cx="320040" cy="1402080"/>
          </a:xfrm>
          <a:prstGeom prst="rect">
            <a:avLst/>
          </a:prstGeom>
          <a:noFill/>
        </p:spPr>
        <p:txBody>
          <a:bodyPr wrap="square" anchor="ctr" lIns="0" rIns="0" tIns="0" bIns="0">
            <a:spAutoFit/>
          </a:bodyPr>
          <a:lstStyle/>
          <a:p>
            <a:pPr algn="ctr">
              <a:lnSpc>
                <a:spcPct val="100000"/>
              </a:lnSpc>
            </a:pPr>
            <a:r>
              <a:rPr sz="1000" b="0">
                <a:solidFill>
                  <a:srgbClr val="6B5F56"/>
                </a:solidFill>
                <a:latin typeface="Malgun Gothic"/>
              </a:rPr>
              <a:t>저</a:t>
            </a:r>
          </a:p>
        </p:txBody>
      </p:sp>
      <p:sp>
        <p:nvSpPr>
          <p:cNvPr id="17" name="TextBox 16"/>
          <p:cNvSpPr txBox="1"/>
          <p:nvPr/>
        </p:nvSpPr>
        <p:spPr>
          <a:xfrm>
            <a:off x="640080" y="5714999"/>
            <a:ext cx="5120640" cy="274320"/>
          </a:xfrm>
          <a:prstGeom prst="rect">
            <a:avLst/>
          </a:prstGeom>
          <a:noFill/>
        </p:spPr>
        <p:txBody>
          <a:bodyPr wrap="square" anchor="t" lIns="0" rIns="0" tIns="0" bIns="0">
            <a:spAutoFit/>
          </a:bodyPr>
          <a:lstStyle/>
          <a:p>
            <a:pPr algn="ctr">
              <a:lnSpc>
                <a:spcPct val="100000"/>
              </a:lnSpc>
            </a:pPr>
            <a:r>
              <a:rPr sz="1050" b="1">
                <a:solidFill>
                  <a:srgbClr val="2B211B"/>
                </a:solidFill>
                <a:latin typeface="Malgun Gothic"/>
              </a:rPr>
              <a:t>발생 확률 →</a:t>
            </a:r>
          </a:p>
        </p:txBody>
      </p:sp>
      <p:sp>
        <p:nvSpPr>
          <p:cNvPr id="18" name="Oval 17"/>
          <p:cNvSpPr/>
          <p:nvPr/>
        </p:nvSpPr>
        <p:spPr>
          <a:xfrm>
            <a:off x="2854756" y="1837943"/>
            <a:ext cx="384048" cy="384048"/>
          </a:xfrm>
          <a:prstGeom prst="ellipse">
            <a:avLst/>
          </a:prstGeom>
          <a:solidFill>
            <a:srgbClr val="D97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4756" y="1837943"/>
            <a:ext cx="384048" cy="384048"/>
          </a:xfrm>
          <a:prstGeom prst="rect">
            <a:avLst/>
          </a:prstGeom>
          <a:noFill/>
        </p:spPr>
        <p:txBody>
          <a:bodyPr wrap="square" anchor="ctr" lIns="0" rIns="0" tIns="0" bIns="0">
            <a:spAutoFit/>
          </a:bodyPr>
          <a:lstStyle/>
          <a:p>
            <a:pPr algn="ctr">
              <a:lnSpc>
                <a:spcPct val="100000"/>
              </a:lnSpc>
            </a:pPr>
            <a:r>
              <a:rPr sz="1300" b="1">
                <a:solidFill>
                  <a:srgbClr val="FFFFFF"/>
                </a:solidFill>
                <a:latin typeface="Malgun Gothic"/>
              </a:rPr>
              <a:t>1</a:t>
            </a:r>
          </a:p>
        </p:txBody>
      </p:sp>
      <p:sp>
        <p:nvSpPr>
          <p:cNvPr id="20" name="Oval 19"/>
          <p:cNvSpPr/>
          <p:nvPr/>
        </p:nvSpPr>
        <p:spPr>
          <a:xfrm>
            <a:off x="3366820" y="2342692"/>
            <a:ext cx="384048" cy="384048"/>
          </a:xfrm>
          <a:prstGeom prst="ellipse">
            <a:avLst/>
          </a:prstGeom>
          <a:solidFill>
            <a:srgbClr val="D97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6820" y="2342692"/>
            <a:ext cx="384048" cy="384048"/>
          </a:xfrm>
          <a:prstGeom prst="rect">
            <a:avLst/>
          </a:prstGeom>
          <a:noFill/>
        </p:spPr>
        <p:txBody>
          <a:bodyPr wrap="square" anchor="ctr" lIns="0" rIns="0" tIns="0" bIns="0">
            <a:spAutoFit/>
          </a:bodyPr>
          <a:lstStyle/>
          <a:p>
            <a:pPr algn="ctr">
              <a:lnSpc>
                <a:spcPct val="100000"/>
              </a:lnSpc>
            </a:pPr>
            <a:r>
              <a:rPr sz="1300" b="1">
                <a:solidFill>
                  <a:srgbClr val="FFFFFF"/>
                </a:solidFill>
                <a:latin typeface="Malgun Gothic"/>
              </a:rPr>
              <a:t>3</a:t>
            </a:r>
          </a:p>
        </p:txBody>
      </p:sp>
      <p:sp>
        <p:nvSpPr>
          <p:cNvPr id="22" name="Oval 21"/>
          <p:cNvSpPr/>
          <p:nvPr/>
        </p:nvSpPr>
        <p:spPr>
          <a:xfrm>
            <a:off x="4698187" y="3099815"/>
            <a:ext cx="384048" cy="384048"/>
          </a:xfrm>
          <a:prstGeom prst="ellipse">
            <a:avLst/>
          </a:prstGeom>
          <a:solidFill>
            <a:srgbClr val="7A3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8187" y="3099815"/>
            <a:ext cx="384048" cy="384048"/>
          </a:xfrm>
          <a:prstGeom prst="rect">
            <a:avLst/>
          </a:prstGeom>
          <a:noFill/>
        </p:spPr>
        <p:txBody>
          <a:bodyPr wrap="square" anchor="ctr" lIns="0" rIns="0" tIns="0" bIns="0">
            <a:spAutoFit/>
          </a:bodyPr>
          <a:lstStyle/>
          <a:p>
            <a:pPr algn="ctr">
              <a:lnSpc>
                <a:spcPct val="100000"/>
              </a:lnSpc>
            </a:pPr>
            <a:r>
              <a:rPr sz="1300" b="1">
                <a:solidFill>
                  <a:srgbClr val="FFFFFF"/>
                </a:solidFill>
                <a:latin typeface="Malgun Gothic"/>
              </a:rPr>
              <a:t>2</a:t>
            </a:r>
          </a:p>
        </p:txBody>
      </p:sp>
      <p:sp>
        <p:nvSpPr>
          <p:cNvPr id="24" name="Oval 23"/>
          <p:cNvSpPr/>
          <p:nvPr/>
        </p:nvSpPr>
        <p:spPr>
          <a:xfrm>
            <a:off x="2854756" y="3099815"/>
            <a:ext cx="384048" cy="384048"/>
          </a:xfrm>
          <a:prstGeom prst="ellipse">
            <a:avLst/>
          </a:prstGeom>
          <a:solidFill>
            <a:srgbClr val="6B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4756" y="3099815"/>
            <a:ext cx="384048" cy="384048"/>
          </a:xfrm>
          <a:prstGeom prst="rect">
            <a:avLst/>
          </a:prstGeom>
          <a:noFill/>
        </p:spPr>
        <p:txBody>
          <a:bodyPr wrap="square" anchor="ctr" lIns="0" rIns="0" tIns="0" bIns="0">
            <a:spAutoFit/>
          </a:bodyPr>
          <a:lstStyle/>
          <a:p>
            <a:pPr algn="ctr">
              <a:lnSpc>
                <a:spcPct val="100000"/>
              </a:lnSpc>
            </a:pPr>
            <a:r>
              <a:rPr sz="1300" b="1">
                <a:solidFill>
                  <a:srgbClr val="FFFFFF"/>
                </a:solidFill>
                <a:latin typeface="Malgun Gothic"/>
              </a:rPr>
              <a:t>4</a:t>
            </a:r>
          </a:p>
        </p:txBody>
      </p:sp>
      <p:sp>
        <p:nvSpPr>
          <p:cNvPr id="26" name="Oval 25"/>
          <p:cNvSpPr/>
          <p:nvPr/>
        </p:nvSpPr>
        <p:spPr>
          <a:xfrm>
            <a:off x="4698187" y="4572000"/>
            <a:ext cx="384048" cy="384048"/>
          </a:xfrm>
          <a:prstGeom prst="ellipse">
            <a:avLst/>
          </a:prstGeom>
          <a:solidFill>
            <a:srgbClr val="948B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98187" y="4572000"/>
            <a:ext cx="384048" cy="384048"/>
          </a:xfrm>
          <a:prstGeom prst="rect">
            <a:avLst/>
          </a:prstGeom>
          <a:noFill/>
        </p:spPr>
        <p:txBody>
          <a:bodyPr wrap="square" anchor="ctr" lIns="0" rIns="0" tIns="0" bIns="0">
            <a:spAutoFit/>
          </a:bodyPr>
          <a:lstStyle/>
          <a:p>
            <a:pPr algn="ctr">
              <a:lnSpc>
                <a:spcPct val="100000"/>
              </a:lnSpc>
            </a:pPr>
            <a:r>
              <a:rPr sz="1300" b="1">
                <a:solidFill>
                  <a:srgbClr val="FFFFFF"/>
                </a:solidFill>
                <a:latin typeface="Malgun Gothic"/>
              </a:rPr>
              <a:t>5</a:t>
            </a:r>
          </a:p>
        </p:txBody>
      </p:sp>
      <p:sp>
        <p:nvSpPr>
          <p:cNvPr id="28" name="Oval 27"/>
          <p:cNvSpPr/>
          <p:nvPr/>
        </p:nvSpPr>
        <p:spPr>
          <a:xfrm>
            <a:off x="6126480" y="1234440"/>
            <a:ext cx="310896" cy="310896"/>
          </a:xfrm>
          <a:prstGeom prst="ellipse">
            <a:avLst/>
          </a:prstGeom>
          <a:solidFill>
            <a:srgbClr val="D97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1234440"/>
            <a:ext cx="310896" cy="310896"/>
          </a:xfrm>
          <a:prstGeom prst="rect">
            <a:avLst/>
          </a:prstGeom>
          <a:noFill/>
        </p:spPr>
        <p:txBody>
          <a:bodyPr wrap="square" anchor="ctr" lIns="0" rIns="0" tIns="0" bIns="0">
            <a:spAutoFit/>
          </a:bodyPr>
          <a:lstStyle/>
          <a:p>
            <a:pPr algn="ctr">
              <a:lnSpc>
                <a:spcPct val="100000"/>
              </a:lnSpc>
            </a:pPr>
            <a:r>
              <a:rPr sz="1100" b="1">
                <a:solidFill>
                  <a:srgbClr val="FFFFFF"/>
                </a:solidFill>
                <a:latin typeface="Malgun Gothic"/>
              </a:rPr>
              <a:t>1</a:t>
            </a:r>
          </a:p>
        </p:txBody>
      </p:sp>
      <p:sp>
        <p:nvSpPr>
          <p:cNvPr id="30" name="TextBox 29"/>
          <p:cNvSpPr txBox="1"/>
          <p:nvPr/>
        </p:nvSpPr>
        <p:spPr>
          <a:xfrm>
            <a:off x="6583680" y="1216152"/>
            <a:ext cx="5029200" cy="777240"/>
          </a:xfrm>
          <a:prstGeom prst="rect">
            <a:avLst/>
          </a:prstGeom>
          <a:noFill/>
        </p:spPr>
        <p:txBody>
          <a:bodyPr wrap="square" anchor="t" lIns="0" rIns="0" tIns="0" bIns="0">
            <a:spAutoFit/>
          </a:bodyPr>
          <a:lstStyle/>
          <a:p>
            <a:pPr algn="l">
              <a:lnSpc>
                <a:spcPct val="125000"/>
              </a:lnSpc>
            </a:pPr>
            <a:r>
              <a:rPr sz="1150" b="1">
                <a:solidFill>
                  <a:srgbClr val="2B211B"/>
                </a:solidFill>
                <a:latin typeface="Malgun Gothic"/>
              </a:rPr>
              <a:t>LLM 한식/가정식 인식 정확도 미달  </a:t>
            </a:r>
            <a:r>
              <a:rPr sz="1000" b="0">
                <a:solidFill>
                  <a:srgbClr val="6B5F56"/>
                </a:solidFill>
                <a:latin typeface="Malgun Gothic"/>
              </a:rPr>
              <a:t>초기 프로토타입에서 실측 검증, 벤더 교체 가능한 인터페이스 추상화</a:t>
            </a:r>
          </a:p>
        </p:txBody>
      </p:sp>
      <p:sp>
        <p:nvSpPr>
          <p:cNvPr id="31" name="Oval 30"/>
          <p:cNvSpPr/>
          <p:nvPr/>
        </p:nvSpPr>
        <p:spPr>
          <a:xfrm>
            <a:off x="6126480" y="2075688"/>
            <a:ext cx="310896" cy="310896"/>
          </a:xfrm>
          <a:prstGeom prst="ellipse">
            <a:avLst/>
          </a:prstGeom>
          <a:solidFill>
            <a:srgbClr val="D97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0" y="2075688"/>
            <a:ext cx="310896" cy="310896"/>
          </a:xfrm>
          <a:prstGeom prst="rect">
            <a:avLst/>
          </a:prstGeom>
          <a:noFill/>
        </p:spPr>
        <p:txBody>
          <a:bodyPr wrap="square" anchor="ctr" lIns="0" rIns="0" tIns="0" bIns="0">
            <a:spAutoFit/>
          </a:bodyPr>
          <a:lstStyle/>
          <a:p>
            <a:pPr algn="ctr">
              <a:lnSpc>
                <a:spcPct val="100000"/>
              </a:lnSpc>
            </a:pPr>
            <a:r>
              <a:rPr sz="1100" b="1">
                <a:solidFill>
                  <a:srgbClr val="FFFFFF"/>
                </a:solidFill>
                <a:latin typeface="Malgun Gothic"/>
              </a:rPr>
              <a:t>3</a:t>
            </a:r>
          </a:p>
        </p:txBody>
      </p:sp>
      <p:sp>
        <p:nvSpPr>
          <p:cNvPr id="33" name="TextBox 32"/>
          <p:cNvSpPr txBox="1"/>
          <p:nvPr/>
        </p:nvSpPr>
        <p:spPr>
          <a:xfrm>
            <a:off x="6583680" y="2057400"/>
            <a:ext cx="5029200" cy="777240"/>
          </a:xfrm>
          <a:prstGeom prst="rect">
            <a:avLst/>
          </a:prstGeom>
          <a:noFill/>
        </p:spPr>
        <p:txBody>
          <a:bodyPr wrap="square" anchor="t" lIns="0" rIns="0" tIns="0" bIns="0">
            <a:spAutoFit/>
          </a:bodyPr>
          <a:lstStyle/>
          <a:p>
            <a:pPr algn="l">
              <a:lnSpc>
                <a:spcPct val="125000"/>
              </a:lnSpc>
            </a:pPr>
            <a:r>
              <a:rPr sz="1150" b="1">
                <a:solidFill>
                  <a:srgbClr val="2B211B"/>
                </a:solidFill>
                <a:latin typeface="Malgun Gothic"/>
              </a:rPr>
              <a:t>"15초 기록" 목표 미달  </a:t>
            </a:r>
            <a:r>
              <a:rPr sz="1000" b="0">
                <a:solidFill>
                  <a:srgbClr val="6B5F56"/>
                </a:solidFill>
                <a:latin typeface="Malgun Gothic"/>
              </a:rPr>
              <a:t>초기 사용성 테스트 실측, 업로드~인식 응답 3초 이내 성능 튜닝</a:t>
            </a:r>
          </a:p>
        </p:txBody>
      </p:sp>
      <p:sp>
        <p:nvSpPr>
          <p:cNvPr id="34" name="Oval 33"/>
          <p:cNvSpPr/>
          <p:nvPr/>
        </p:nvSpPr>
        <p:spPr>
          <a:xfrm>
            <a:off x="6126480" y="2916936"/>
            <a:ext cx="310896" cy="310896"/>
          </a:xfrm>
          <a:prstGeom prst="ellipse">
            <a:avLst/>
          </a:prstGeom>
          <a:solidFill>
            <a:srgbClr val="7A3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0" y="2916936"/>
            <a:ext cx="310896" cy="310896"/>
          </a:xfrm>
          <a:prstGeom prst="rect">
            <a:avLst/>
          </a:prstGeom>
          <a:noFill/>
        </p:spPr>
        <p:txBody>
          <a:bodyPr wrap="square" anchor="ctr" lIns="0" rIns="0" tIns="0" bIns="0">
            <a:spAutoFit/>
          </a:bodyPr>
          <a:lstStyle/>
          <a:p>
            <a:pPr algn="ctr">
              <a:lnSpc>
                <a:spcPct val="100000"/>
              </a:lnSpc>
            </a:pPr>
            <a:r>
              <a:rPr sz="1100" b="1">
                <a:solidFill>
                  <a:srgbClr val="FFFFFF"/>
                </a:solidFill>
                <a:latin typeface="Malgun Gothic"/>
              </a:rPr>
              <a:t>2</a:t>
            </a:r>
          </a:p>
        </p:txBody>
      </p:sp>
      <p:sp>
        <p:nvSpPr>
          <p:cNvPr id="36" name="TextBox 35"/>
          <p:cNvSpPr txBox="1"/>
          <p:nvPr/>
        </p:nvSpPr>
        <p:spPr>
          <a:xfrm>
            <a:off x="6583680" y="2898648"/>
            <a:ext cx="5029200" cy="777240"/>
          </a:xfrm>
          <a:prstGeom prst="rect">
            <a:avLst/>
          </a:prstGeom>
          <a:noFill/>
        </p:spPr>
        <p:txBody>
          <a:bodyPr wrap="square" anchor="t" lIns="0" rIns="0" tIns="0" bIns="0">
            <a:spAutoFit/>
          </a:bodyPr>
          <a:lstStyle/>
          <a:p>
            <a:pPr algn="l">
              <a:lnSpc>
                <a:spcPct val="125000"/>
              </a:lnSpc>
            </a:pPr>
            <a:r>
              <a:rPr sz="1150" b="1">
                <a:solidFill>
                  <a:srgbClr val="2B211B"/>
                </a:solidFill>
                <a:latin typeface="Malgun Gothic"/>
              </a:rPr>
              <a:t>경쟁 앱 기능 수렴으로 차별점 희석  </a:t>
            </a:r>
            <a:r>
              <a:rPr sz="1000" b="0">
                <a:solidFill>
                  <a:srgbClr val="6B5F56"/>
                </a:solidFill>
                <a:latin typeface="Malgun Gothic"/>
              </a:rPr>
              <a:t>한식 정확도·그램 미노출·15초·증량 전용 포지셔닝, 분기별 재점검</a:t>
            </a:r>
          </a:p>
        </p:txBody>
      </p:sp>
      <p:sp>
        <p:nvSpPr>
          <p:cNvPr id="37" name="Oval 36"/>
          <p:cNvSpPr/>
          <p:nvPr/>
        </p:nvSpPr>
        <p:spPr>
          <a:xfrm>
            <a:off x="6126480" y="3758184"/>
            <a:ext cx="310896" cy="310896"/>
          </a:xfrm>
          <a:prstGeom prst="ellipse">
            <a:avLst/>
          </a:prstGeom>
          <a:solidFill>
            <a:srgbClr val="6B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758184"/>
            <a:ext cx="310896" cy="310896"/>
          </a:xfrm>
          <a:prstGeom prst="rect">
            <a:avLst/>
          </a:prstGeom>
          <a:noFill/>
        </p:spPr>
        <p:txBody>
          <a:bodyPr wrap="square" anchor="ctr" lIns="0" rIns="0" tIns="0" bIns="0">
            <a:spAutoFit/>
          </a:bodyPr>
          <a:lstStyle/>
          <a:p>
            <a:pPr algn="ctr">
              <a:lnSpc>
                <a:spcPct val="100000"/>
              </a:lnSpc>
            </a:pPr>
            <a:r>
              <a:rPr sz="1100" b="1">
                <a:solidFill>
                  <a:srgbClr val="FFFFFF"/>
                </a:solidFill>
                <a:latin typeface="Malgun Gothic"/>
              </a:rPr>
              <a:t>4</a:t>
            </a:r>
          </a:p>
        </p:txBody>
      </p:sp>
      <p:sp>
        <p:nvSpPr>
          <p:cNvPr id="39" name="TextBox 38"/>
          <p:cNvSpPr txBox="1"/>
          <p:nvPr/>
        </p:nvSpPr>
        <p:spPr>
          <a:xfrm>
            <a:off x="6583680" y="3739896"/>
            <a:ext cx="5029200" cy="777240"/>
          </a:xfrm>
          <a:prstGeom prst="rect">
            <a:avLst/>
          </a:prstGeom>
          <a:noFill/>
        </p:spPr>
        <p:txBody>
          <a:bodyPr wrap="square" anchor="t" lIns="0" rIns="0" tIns="0" bIns="0">
            <a:spAutoFit/>
          </a:bodyPr>
          <a:lstStyle/>
          <a:p>
            <a:pPr algn="l">
              <a:lnSpc>
                <a:spcPct val="125000"/>
              </a:lnSpc>
            </a:pPr>
            <a:r>
              <a:rPr sz="1150" b="1">
                <a:solidFill>
                  <a:srgbClr val="2B211B"/>
                </a:solidFill>
                <a:latin typeface="Malgun Gothic"/>
              </a:rPr>
              <a:t>팀 규모/예산 미확정으로 일정 지연  </a:t>
            </a:r>
            <a:r>
              <a:rPr sz="1000" b="0">
                <a:solidFill>
                  <a:srgbClr val="6B5F56"/>
                </a:solidFill>
                <a:latin typeface="Malgun Gothic"/>
              </a:rPr>
              <a:t>PRD.md 팀 규모·기간·예산 조속 확정</a:t>
            </a:r>
          </a:p>
        </p:txBody>
      </p:sp>
      <p:sp>
        <p:nvSpPr>
          <p:cNvPr id="40" name="Oval 39"/>
          <p:cNvSpPr/>
          <p:nvPr/>
        </p:nvSpPr>
        <p:spPr>
          <a:xfrm>
            <a:off x="6126480" y="4599432"/>
            <a:ext cx="310896" cy="310896"/>
          </a:xfrm>
          <a:prstGeom prst="ellipse">
            <a:avLst/>
          </a:prstGeom>
          <a:solidFill>
            <a:srgbClr val="948B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0" y="4599432"/>
            <a:ext cx="310896" cy="310896"/>
          </a:xfrm>
          <a:prstGeom prst="rect">
            <a:avLst/>
          </a:prstGeom>
          <a:noFill/>
        </p:spPr>
        <p:txBody>
          <a:bodyPr wrap="square" anchor="ctr" lIns="0" rIns="0" tIns="0" bIns="0">
            <a:spAutoFit/>
          </a:bodyPr>
          <a:lstStyle/>
          <a:p>
            <a:pPr algn="ctr">
              <a:lnSpc>
                <a:spcPct val="100000"/>
              </a:lnSpc>
            </a:pPr>
            <a:r>
              <a:rPr sz="1100" b="1">
                <a:solidFill>
                  <a:srgbClr val="FFFFFF"/>
                </a:solidFill>
                <a:latin typeface="Malgun Gothic"/>
              </a:rPr>
              <a:t>5</a:t>
            </a:r>
          </a:p>
        </p:txBody>
      </p:sp>
      <p:sp>
        <p:nvSpPr>
          <p:cNvPr id="42" name="TextBox 41"/>
          <p:cNvSpPr txBox="1"/>
          <p:nvPr/>
        </p:nvSpPr>
        <p:spPr>
          <a:xfrm>
            <a:off x="6583680" y="4581144"/>
            <a:ext cx="5029200" cy="777240"/>
          </a:xfrm>
          <a:prstGeom prst="rect">
            <a:avLst/>
          </a:prstGeom>
          <a:noFill/>
        </p:spPr>
        <p:txBody>
          <a:bodyPr wrap="square" anchor="t" lIns="0" rIns="0" tIns="0" bIns="0">
            <a:spAutoFit/>
          </a:bodyPr>
          <a:lstStyle/>
          <a:p>
            <a:pPr algn="l">
              <a:lnSpc>
                <a:spcPct val="125000"/>
              </a:lnSpc>
            </a:pPr>
            <a:r>
              <a:rPr sz="1150" b="1">
                <a:solidFill>
                  <a:srgbClr val="2B211B"/>
                </a:solidFill>
                <a:latin typeface="Malgun Gothic"/>
              </a:rPr>
              <a:t>NotebookLM CLI 자동화 불가  </a:t>
            </a:r>
            <a:r>
              <a:rPr sz="1000" b="0">
                <a:solidFill>
                  <a:srgbClr val="6B5F56"/>
                </a:solidFill>
                <a:latin typeface="Malgun Gothic"/>
              </a:rPr>
              <a:t>통합자료실 README 수동 업로드 절차로 대체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457200" cy="365760"/>
          </a:xfrm>
          <a:prstGeom prst="rect">
            <a:avLst/>
          </a:prstGeom>
          <a:noFill/>
        </p:spPr>
        <p:txBody>
          <a:bodyPr wrap="square" anchor="t" lIns="0" rIns="0" tIns="0" bIns="0">
            <a:spAutoFit/>
          </a:bodyPr>
          <a:lstStyle/>
          <a:p>
            <a:pPr algn="l">
              <a:lnSpc>
                <a:spcPct val="100000"/>
              </a:lnSpc>
            </a:pPr>
            <a:r>
              <a:rPr sz="1400" b="1">
                <a:solidFill>
                  <a:srgbClr val="D97444"/>
                </a:solidFill>
                <a:latin typeface="Malgun Gothic"/>
              </a:rPr>
              <a:t>07</a:t>
            </a:r>
          </a:p>
        </p:txBody>
      </p:sp>
      <p:sp>
        <p:nvSpPr>
          <p:cNvPr id="3" name="TextBox 2"/>
          <p:cNvSpPr txBox="1"/>
          <p:nvPr/>
        </p:nvSpPr>
        <p:spPr>
          <a:xfrm>
            <a:off x="960120" y="320040"/>
            <a:ext cx="7315200" cy="502920"/>
          </a:xfrm>
          <a:prstGeom prst="rect">
            <a:avLst/>
          </a:prstGeom>
          <a:noFill/>
        </p:spPr>
        <p:txBody>
          <a:bodyPr wrap="square" anchor="t" lIns="0" rIns="0" tIns="0" bIns="0">
            <a:spAutoFit/>
          </a:bodyPr>
          <a:lstStyle/>
          <a:p>
            <a:pPr algn="l">
              <a:lnSpc>
                <a:spcPct val="100000"/>
              </a:lnSpc>
            </a:pPr>
            <a:r>
              <a:rPr sz="2600" b="1">
                <a:solidFill>
                  <a:srgbClr val="2B211B"/>
                </a:solidFill>
                <a:latin typeface="Malgun Gothic"/>
              </a:rPr>
              <a:t>커뮤니케이션 계획</a:t>
            </a:r>
          </a:p>
        </p:txBody>
      </p:sp>
      <p:sp>
        <p:nvSpPr>
          <p:cNvPr id="4" name="Rectangle 3"/>
          <p:cNvSpPr/>
          <p:nvPr/>
        </p:nvSpPr>
        <p:spPr>
          <a:xfrm>
            <a:off x="548640" y="1280160"/>
            <a:ext cx="11109960" cy="502920"/>
          </a:xfrm>
          <a:prstGeom prst="rect">
            <a:avLst/>
          </a:prstGeom>
          <a:solidFill>
            <a:srgbClr val="F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2743200" cy="502920"/>
          </a:xfrm>
          <a:prstGeom prst="rect">
            <a:avLst/>
          </a:prstGeom>
          <a:noFill/>
        </p:spPr>
        <p:txBody>
          <a:bodyPr wrap="square" anchor="ctr" lIns="0" rIns="0" tIns="0" bIns="0">
            <a:spAutoFit/>
          </a:bodyPr>
          <a:lstStyle/>
          <a:p>
            <a:pPr algn="l">
              <a:lnSpc>
                <a:spcPct val="100000"/>
              </a:lnSpc>
            </a:pPr>
            <a:r>
              <a:rPr sz="1150" b="1">
                <a:solidFill>
                  <a:srgbClr val="7A3C1D"/>
                </a:solidFill>
                <a:latin typeface="Malgun Gothic"/>
              </a:rPr>
              <a:t>활동</a:t>
            </a:r>
          </a:p>
        </p:txBody>
      </p:sp>
      <p:sp>
        <p:nvSpPr>
          <p:cNvPr id="6" name="TextBox 5"/>
          <p:cNvSpPr txBox="1"/>
          <p:nvPr/>
        </p:nvSpPr>
        <p:spPr>
          <a:xfrm>
            <a:off x="3657600" y="1280160"/>
            <a:ext cx="3474720" cy="502920"/>
          </a:xfrm>
          <a:prstGeom prst="rect">
            <a:avLst/>
          </a:prstGeom>
          <a:noFill/>
        </p:spPr>
        <p:txBody>
          <a:bodyPr wrap="square" anchor="ctr" lIns="0" rIns="0" tIns="0" bIns="0">
            <a:spAutoFit/>
          </a:bodyPr>
          <a:lstStyle/>
          <a:p>
            <a:pPr algn="l">
              <a:lnSpc>
                <a:spcPct val="100000"/>
              </a:lnSpc>
            </a:pPr>
            <a:r>
              <a:rPr sz="1150" b="1">
                <a:solidFill>
                  <a:srgbClr val="7A3C1D"/>
                </a:solidFill>
                <a:latin typeface="Malgun Gothic"/>
              </a:rPr>
              <a:t>빈도 / 참석자</a:t>
            </a:r>
          </a:p>
        </p:txBody>
      </p:sp>
      <p:sp>
        <p:nvSpPr>
          <p:cNvPr id="7" name="TextBox 6"/>
          <p:cNvSpPr txBox="1"/>
          <p:nvPr/>
        </p:nvSpPr>
        <p:spPr>
          <a:xfrm>
            <a:off x="7315200" y="1280160"/>
            <a:ext cx="4343400" cy="502920"/>
          </a:xfrm>
          <a:prstGeom prst="rect">
            <a:avLst/>
          </a:prstGeom>
          <a:noFill/>
        </p:spPr>
        <p:txBody>
          <a:bodyPr wrap="square" anchor="ctr" lIns="0" rIns="0" tIns="0" bIns="0">
            <a:spAutoFit/>
          </a:bodyPr>
          <a:lstStyle/>
          <a:p>
            <a:pPr algn="l">
              <a:lnSpc>
                <a:spcPct val="100000"/>
              </a:lnSpc>
            </a:pPr>
            <a:r>
              <a:rPr sz="1150" b="1">
                <a:solidFill>
                  <a:srgbClr val="7A3C1D"/>
                </a:solidFill>
                <a:latin typeface="Malgun Gothic"/>
              </a:rPr>
              <a:t>채널</a:t>
            </a:r>
          </a:p>
        </p:txBody>
      </p:sp>
      <p:sp>
        <p:nvSpPr>
          <p:cNvPr id="8" name="Rectangle 7"/>
          <p:cNvSpPr/>
          <p:nvPr/>
        </p:nvSpPr>
        <p:spPr>
          <a:xfrm>
            <a:off x="548640" y="1783080"/>
            <a:ext cx="11109960" cy="960120"/>
          </a:xfrm>
          <a:prstGeom prst="rect">
            <a:avLst/>
          </a:prstGeom>
          <a:solidFill>
            <a:srgbClr val="FBF7F2"/>
          </a:solidFill>
          <a:ln w="9525">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2651760" cy="960120"/>
          </a:xfrm>
          <a:prstGeom prst="rect">
            <a:avLst/>
          </a:prstGeom>
          <a:noFill/>
        </p:spPr>
        <p:txBody>
          <a:bodyPr wrap="square" anchor="ctr" lIns="0" rIns="0" tIns="0" bIns="0">
            <a:spAutoFit/>
          </a:bodyPr>
          <a:lstStyle/>
          <a:p>
            <a:pPr algn="l">
              <a:lnSpc>
                <a:spcPct val="120000"/>
              </a:lnSpc>
            </a:pPr>
            <a:r>
              <a:rPr sz="1350" b="1">
                <a:solidFill>
                  <a:srgbClr val="2B211B"/>
                </a:solidFill>
                <a:latin typeface="Malgun Gothic"/>
              </a:rPr>
              <a:t>주간보고</a:t>
            </a:r>
          </a:p>
        </p:txBody>
      </p:sp>
      <p:sp>
        <p:nvSpPr>
          <p:cNvPr id="10" name="TextBox 9"/>
          <p:cNvSpPr txBox="1"/>
          <p:nvPr/>
        </p:nvSpPr>
        <p:spPr>
          <a:xfrm>
            <a:off x="3657600" y="1783080"/>
            <a:ext cx="3383280" cy="960120"/>
          </a:xfrm>
          <a:prstGeom prst="rect">
            <a:avLst/>
          </a:prstGeom>
          <a:noFill/>
        </p:spPr>
        <p:txBody>
          <a:bodyPr wrap="square" anchor="ctr" lIns="0" rIns="0" tIns="0" bIns="0">
            <a:spAutoFit/>
          </a:bodyPr>
          <a:lstStyle/>
          <a:p>
            <a:pPr algn="l">
              <a:lnSpc>
                <a:spcPct val="120000"/>
              </a:lnSpc>
            </a:pPr>
            <a:r>
              <a:rPr sz="1150" b="0">
                <a:solidFill>
                  <a:srgbClr val="6B5F56"/>
                </a:solidFill>
                <a:latin typeface="Malgun Gothic"/>
              </a:rPr>
              <a:t>주 1회 · 전체 팀</a:t>
            </a:r>
          </a:p>
        </p:txBody>
      </p:sp>
      <p:sp>
        <p:nvSpPr>
          <p:cNvPr id="11" name="TextBox 10"/>
          <p:cNvSpPr txBox="1"/>
          <p:nvPr/>
        </p:nvSpPr>
        <p:spPr>
          <a:xfrm>
            <a:off x="7315200" y="1783080"/>
            <a:ext cx="4251960" cy="960120"/>
          </a:xfrm>
          <a:prstGeom prst="rect">
            <a:avLst/>
          </a:prstGeom>
          <a:noFill/>
        </p:spPr>
        <p:txBody>
          <a:bodyPr wrap="square" anchor="ctr" lIns="0" rIns="0" tIns="0" bIns="0">
            <a:spAutoFit/>
          </a:bodyPr>
          <a:lstStyle/>
          <a:p>
            <a:pPr algn="l">
              <a:lnSpc>
                <a:spcPct val="120000"/>
              </a:lnSpc>
            </a:pPr>
            <a:r>
              <a:rPr sz="1150" b="0">
                <a:solidFill>
                  <a:srgbClr val="2B211B"/>
                </a:solidFill>
                <a:latin typeface="Malgun Gothic"/>
              </a:rPr>
              <a:t>01.관리문서/주간보고서.md + Slack</a:t>
            </a:r>
          </a:p>
        </p:txBody>
      </p:sp>
      <p:sp>
        <p:nvSpPr>
          <p:cNvPr id="12" name="Rectangle 11"/>
          <p:cNvSpPr/>
          <p:nvPr/>
        </p:nvSpPr>
        <p:spPr>
          <a:xfrm>
            <a:off x="548640" y="2743200"/>
            <a:ext cx="11109960" cy="960120"/>
          </a:xfrm>
          <a:prstGeom prst="rect">
            <a:avLst/>
          </a:prstGeom>
          <a:solidFill>
            <a:srgbClr val="FFFFFF"/>
          </a:solidFill>
          <a:ln w="9525">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43200"/>
            <a:ext cx="2651760" cy="960120"/>
          </a:xfrm>
          <a:prstGeom prst="rect">
            <a:avLst/>
          </a:prstGeom>
          <a:noFill/>
        </p:spPr>
        <p:txBody>
          <a:bodyPr wrap="square" anchor="ctr" lIns="0" rIns="0" tIns="0" bIns="0">
            <a:spAutoFit/>
          </a:bodyPr>
          <a:lstStyle/>
          <a:p>
            <a:pPr algn="l">
              <a:lnSpc>
                <a:spcPct val="120000"/>
              </a:lnSpc>
            </a:pPr>
            <a:r>
              <a:rPr sz="1350" b="1">
                <a:solidFill>
                  <a:srgbClr val="2B211B"/>
                </a:solidFill>
                <a:latin typeface="Malgun Gothic"/>
              </a:rPr>
              <a:t>산출물 리뷰</a:t>
            </a:r>
          </a:p>
        </p:txBody>
      </p:sp>
      <p:sp>
        <p:nvSpPr>
          <p:cNvPr id="14" name="TextBox 13"/>
          <p:cNvSpPr txBox="1"/>
          <p:nvPr/>
        </p:nvSpPr>
        <p:spPr>
          <a:xfrm>
            <a:off x="3657600" y="2743200"/>
            <a:ext cx="3383280" cy="960120"/>
          </a:xfrm>
          <a:prstGeom prst="rect">
            <a:avLst/>
          </a:prstGeom>
          <a:noFill/>
        </p:spPr>
        <p:txBody>
          <a:bodyPr wrap="square" anchor="ctr" lIns="0" rIns="0" tIns="0" bIns="0">
            <a:spAutoFit/>
          </a:bodyPr>
          <a:lstStyle/>
          <a:p>
            <a:pPr algn="l">
              <a:lnSpc>
                <a:spcPct val="120000"/>
              </a:lnSpc>
            </a:pPr>
            <a:r>
              <a:rPr sz="1150" b="0">
                <a:solidFill>
                  <a:srgbClr val="6B5F56"/>
                </a:solidFill>
                <a:latin typeface="Malgun Gothic"/>
              </a:rPr>
              <a:t>각 Phase Gate 완료 시 · PM + 담당자</a:t>
            </a:r>
          </a:p>
        </p:txBody>
      </p:sp>
      <p:sp>
        <p:nvSpPr>
          <p:cNvPr id="15" name="TextBox 14"/>
          <p:cNvSpPr txBox="1"/>
          <p:nvPr/>
        </p:nvSpPr>
        <p:spPr>
          <a:xfrm>
            <a:off x="7315200" y="2743200"/>
            <a:ext cx="4251960" cy="960120"/>
          </a:xfrm>
          <a:prstGeom prst="rect">
            <a:avLst/>
          </a:prstGeom>
          <a:noFill/>
        </p:spPr>
        <p:txBody>
          <a:bodyPr wrap="square" anchor="ctr" lIns="0" rIns="0" tIns="0" bIns="0">
            <a:spAutoFit/>
          </a:bodyPr>
          <a:lstStyle/>
          <a:p>
            <a:pPr algn="l">
              <a:lnSpc>
                <a:spcPct val="120000"/>
              </a:lnSpc>
            </a:pPr>
            <a:r>
              <a:rPr sz="1150" b="0">
                <a:solidFill>
                  <a:srgbClr val="2B211B"/>
                </a:solidFill>
                <a:latin typeface="Malgun Gothic"/>
              </a:rPr>
              <a:t>Slack, GitHub PR</a:t>
            </a:r>
          </a:p>
        </p:txBody>
      </p:sp>
      <p:sp>
        <p:nvSpPr>
          <p:cNvPr id="16" name="Rectangle 15"/>
          <p:cNvSpPr/>
          <p:nvPr/>
        </p:nvSpPr>
        <p:spPr>
          <a:xfrm>
            <a:off x="548640" y="3703320"/>
            <a:ext cx="11109960" cy="960120"/>
          </a:xfrm>
          <a:prstGeom prst="rect">
            <a:avLst/>
          </a:prstGeom>
          <a:solidFill>
            <a:srgbClr val="FBF7F2"/>
          </a:solidFill>
          <a:ln w="9525">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703320"/>
            <a:ext cx="2651760" cy="960120"/>
          </a:xfrm>
          <a:prstGeom prst="rect">
            <a:avLst/>
          </a:prstGeom>
          <a:noFill/>
        </p:spPr>
        <p:txBody>
          <a:bodyPr wrap="square" anchor="ctr" lIns="0" rIns="0" tIns="0" bIns="0">
            <a:spAutoFit/>
          </a:bodyPr>
          <a:lstStyle/>
          <a:p>
            <a:pPr algn="l">
              <a:lnSpc>
                <a:spcPct val="120000"/>
              </a:lnSpc>
            </a:pPr>
            <a:r>
              <a:rPr sz="1350" b="1">
                <a:solidFill>
                  <a:srgbClr val="2B211B"/>
                </a:solidFill>
                <a:latin typeface="Malgun Gothic"/>
              </a:rPr>
              <a:t>이슈/버그 트래킹</a:t>
            </a:r>
          </a:p>
        </p:txBody>
      </p:sp>
      <p:sp>
        <p:nvSpPr>
          <p:cNvPr id="18" name="TextBox 17"/>
          <p:cNvSpPr txBox="1"/>
          <p:nvPr/>
        </p:nvSpPr>
        <p:spPr>
          <a:xfrm>
            <a:off x="3657600" y="3703320"/>
            <a:ext cx="3383280" cy="960120"/>
          </a:xfrm>
          <a:prstGeom prst="rect">
            <a:avLst/>
          </a:prstGeom>
          <a:noFill/>
        </p:spPr>
        <p:txBody>
          <a:bodyPr wrap="square" anchor="ctr" lIns="0" rIns="0" tIns="0" bIns="0">
            <a:spAutoFit/>
          </a:bodyPr>
          <a:lstStyle/>
          <a:p>
            <a:pPr algn="l">
              <a:lnSpc>
                <a:spcPct val="120000"/>
              </a:lnSpc>
            </a:pPr>
            <a:r>
              <a:rPr sz="1150" b="0">
                <a:solidFill>
                  <a:srgbClr val="6B5F56"/>
                </a:solidFill>
                <a:latin typeface="Malgun Gothic"/>
              </a:rPr>
              <a:t>상시 · 개발팀</a:t>
            </a:r>
          </a:p>
        </p:txBody>
      </p:sp>
      <p:sp>
        <p:nvSpPr>
          <p:cNvPr id="19" name="TextBox 18"/>
          <p:cNvSpPr txBox="1"/>
          <p:nvPr/>
        </p:nvSpPr>
        <p:spPr>
          <a:xfrm>
            <a:off x="7315200" y="3703320"/>
            <a:ext cx="4251960" cy="960120"/>
          </a:xfrm>
          <a:prstGeom prst="rect">
            <a:avLst/>
          </a:prstGeom>
          <a:noFill/>
        </p:spPr>
        <p:txBody>
          <a:bodyPr wrap="square" anchor="ctr" lIns="0" rIns="0" tIns="0" bIns="0">
            <a:spAutoFit/>
          </a:bodyPr>
          <a:lstStyle/>
          <a:p>
            <a:pPr algn="l">
              <a:lnSpc>
                <a:spcPct val="120000"/>
              </a:lnSpc>
            </a:pPr>
            <a:r>
              <a:rPr sz="1150" b="0">
                <a:solidFill>
                  <a:srgbClr val="2B211B"/>
                </a:solidFill>
                <a:latin typeface="Malgun Gothic"/>
              </a:rPr>
              <a:t>GitHub Issues (n8n Slack 알림 연동)</a:t>
            </a:r>
          </a:p>
        </p:txBody>
      </p:sp>
      <p:sp>
        <p:nvSpPr>
          <p:cNvPr id="20" name="Rectangle 19"/>
          <p:cNvSpPr/>
          <p:nvPr/>
        </p:nvSpPr>
        <p:spPr>
          <a:xfrm>
            <a:off x="548640" y="4663440"/>
            <a:ext cx="11109960" cy="960120"/>
          </a:xfrm>
          <a:prstGeom prst="rect">
            <a:avLst/>
          </a:prstGeom>
          <a:solidFill>
            <a:srgbClr val="FFFFFF"/>
          </a:solidFill>
          <a:ln w="9525">
            <a:solidFill>
              <a:srgbClr val="E1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663440"/>
            <a:ext cx="2651760" cy="960120"/>
          </a:xfrm>
          <a:prstGeom prst="rect">
            <a:avLst/>
          </a:prstGeom>
          <a:noFill/>
        </p:spPr>
        <p:txBody>
          <a:bodyPr wrap="square" anchor="ctr" lIns="0" rIns="0" tIns="0" bIns="0">
            <a:spAutoFit/>
          </a:bodyPr>
          <a:lstStyle/>
          <a:p>
            <a:pPr algn="l">
              <a:lnSpc>
                <a:spcPct val="120000"/>
              </a:lnSpc>
            </a:pPr>
            <a:r>
              <a:rPr sz="1350" b="1">
                <a:solidFill>
                  <a:srgbClr val="2B211B"/>
                </a:solidFill>
                <a:latin typeface="Malgun Gothic"/>
              </a:rPr>
              <a:t>중간 점검</a:t>
            </a:r>
          </a:p>
        </p:txBody>
      </p:sp>
      <p:sp>
        <p:nvSpPr>
          <p:cNvPr id="22" name="TextBox 21"/>
          <p:cNvSpPr txBox="1"/>
          <p:nvPr/>
        </p:nvSpPr>
        <p:spPr>
          <a:xfrm>
            <a:off x="3657600" y="4663440"/>
            <a:ext cx="3383280" cy="960120"/>
          </a:xfrm>
          <a:prstGeom prst="rect">
            <a:avLst/>
          </a:prstGeom>
          <a:noFill/>
        </p:spPr>
        <p:txBody>
          <a:bodyPr wrap="square" anchor="ctr" lIns="0" rIns="0" tIns="0" bIns="0">
            <a:spAutoFit/>
          </a:bodyPr>
          <a:lstStyle/>
          <a:p>
            <a:pPr algn="l">
              <a:lnSpc>
                <a:spcPct val="120000"/>
              </a:lnSpc>
            </a:pPr>
            <a:r>
              <a:rPr sz="1150" b="0">
                <a:solidFill>
                  <a:srgbClr val="6B5F56"/>
                </a:solidFill>
                <a:latin typeface="Malgun Gothic"/>
              </a:rPr>
              <a:t>W3~W4 · 전체 팀</a:t>
            </a:r>
          </a:p>
        </p:txBody>
      </p:sp>
      <p:sp>
        <p:nvSpPr>
          <p:cNvPr id="23" name="TextBox 22"/>
          <p:cNvSpPr txBox="1"/>
          <p:nvPr/>
        </p:nvSpPr>
        <p:spPr>
          <a:xfrm>
            <a:off x="7315200" y="4663440"/>
            <a:ext cx="4251960" cy="960120"/>
          </a:xfrm>
          <a:prstGeom prst="rect">
            <a:avLst/>
          </a:prstGeom>
          <a:noFill/>
        </p:spPr>
        <p:txBody>
          <a:bodyPr wrap="square" anchor="ctr" lIns="0" rIns="0" tIns="0" bIns="0">
            <a:spAutoFit/>
          </a:bodyPr>
          <a:lstStyle/>
          <a:p>
            <a:pPr algn="l">
              <a:lnSpc>
                <a:spcPct val="120000"/>
              </a:lnSpc>
            </a:pPr>
            <a:r>
              <a:rPr sz="1150" b="0">
                <a:solidFill>
                  <a:srgbClr val="2B211B"/>
                </a:solidFill>
                <a:latin typeface="Malgun Gothic"/>
              </a:rPr>
              <a:t>중간보고서.md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